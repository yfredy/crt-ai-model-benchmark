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6" Type="http://schemas.openxmlformats.org/officeDocument/2006/relationships/slide" Target="slides/slide6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flexDirection: 'row', fontFamily: '&quot;Microsoft YaHei&quot;,&quot;Source Han Sans SC&quot;,&quot;Noto Sans SC&quot;,sans-serif' }}&gt;&#10;  &lt;Box style={{ width: 700, height: 720, background: '#0E3F8C', paddingLeft: 56, paddingRight: 56, paddingTop: 70, paddingBottom: 70, justifyContent: 'center' }}&gt;&#10;    &lt;Text style={{ fontSize: 15, color: 'rgba(255,255,255,0.65)', letterSpacing: 3 }}&gt;AI MODEL BENCHMARK FOR CRT RESPONSE&lt;/Text&gt;&#10;    &lt;Text style={{ fontSize: 52, fontWeight: 'bold', color: '#FFFFFF', lineHeight: 1.3, marginTop: 22 }}&gt;&#10;      CRT 应答预测：&lt;br /&gt;哪种 AI 模型最适配？&#10;    &lt;/Text&gt;&#10;    &lt;Box style={{ width: 64, height: 4, background: '#FFC107', marginTop: 26 }} /&gt;&#10;    &lt;Text style={{ fontSize: 19, color: '#DCE6F5', marginTop: 24, lineHeight: 1.6 }}&gt;&#10;      8 种模型 · 嵌套重复分层交叉验证 · 全程无数据泄漏&lt;br /&gt;用同一套 163 例数据，给出一个可复现的答案&#10;    &lt;/Text&gt;&#10;    &lt;Box style={{ height: 1, background: 'rgba(255,255,255,0.25)', marginTop: 40, marginBottom: 18 }} /&gt;&#10;    &lt;Text style={{ fontSize: 15, color: 'rgba(255,255,255,0.85)' }}&gt;南京医科大学第一附属医院 · 心律失常团队&lt;/Text&gt;&#10;    &lt;Text style={{ fontSize: 14, color: 'rgba(255,255,255,0.55)', marginTop: 8 }}&gt;汇报人：于老师　|　2026 年 10 月&lt;/Text&gt;&#10;  &lt;/Box&gt;&#10;  &lt;Box style={{ flex: 1, height: 720, background: '#F7F9FC', alignItems: 'center', justifyContent: 'center', padding: 32 }}&gt;&#10;    &lt;Box style={{ width: 500, background: '#FFFFFF', borderRadius: 12, padding: 18, boxShadow: '0 10px 30px rgba(14,63,140,0.14)' }}&gt;&#10;      &lt;Image src=&quot;assets/roc_curves.png&quot; style={{ width: 464, height: 464, objectFit: 'contain' }} /&gt;&#10;      &lt;Text style={{ fontSize: 13, color: '#8B97A8', textAlign: 'center', marginTop: 10 }}&gt;真实运行产物：8 模型折外预测合并 ROC（跨 5 次重复平均）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6667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33400" y="1371600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AI MODEL BENCHMARK FOR CRT RESPONSE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752600"/>
            <a:ext cx="5600700" cy="1552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应答预测：</a:t>
            </a:r>
            <a:endParaRPr/>
          </a:p>
          <a:p>
            <a:pPr>
              <a:lnSpc>
                <a:spcPct val="13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哪种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模型最适配？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33400" y="355282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33400" y="3819525"/>
            <a:ext cx="56007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种模型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嵌套重复分层交叉验证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全程无数据泄漏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用同一套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163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例数据，给出一个可复现的答案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33400" y="4895850"/>
            <a:ext cx="56007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33400" y="50768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汇报人：于老师　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|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667500" y="0"/>
            <a:ext cx="5524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7048500" y="923925"/>
            <a:ext cx="4762500" cy="50101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285750" dist="95250" dir="5400000">
              <a:srgbClr val="0E3F8C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219950" y="1095375"/>
            <a:ext cx="4419600" cy="4419600"/>
          </a:xfrm>
          <a:prstGeom prst="rect">
            <a:avLst/>
          </a:prstGeom>
          <a:ln/>
        </p:spPr>
      </p:pic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219950" y="5610225"/>
            <a:ext cx="4419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真实运行产物：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模型折外预测合并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ROC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次重复平均）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97" name="" descr="&lt;Slide style={{ width: 1280, height: 720, background: '#FFFFFF', flexDirection: 'row', fontFamily: '&quot;Microsoft YaHei&quot;,&quot;Source Han Sans SC&quot;,&quot;Noto Sans SC&quot;,sans-serif' }}&gt;&#10;  &lt;Box style={{ width: 360, height: 720, background: '#0E3F8C', paddingLeft: 44, paddingRight: 44, paddingTop: 80, paddingBottom: 80, justifyContent: 'center' }}&gt;&#10;    &lt;Text style={{ fontSize: 14, color: 'rgba(255,255,255,0.6)', letterSpacing: 4 }}&gt;CONTENTS&lt;/Text&gt;&#10;    &lt;Text style={{ fontSize: 44, fontWeight: 'bold', color: '#FFFFFF', marginTop: 12 }}&gt;目录&lt;/Text&gt;&#10;    &lt;Box style={{ width: 48, height: 4, background: '#FFC107', marginTop: 22 }} /&gt;&#10;    &lt;Text style={{ fontSize: 15, color: '#DCE6F5', lineHeight: 1.8, marginTop: 30 }}&gt;&#10;      三个问题，一条主线：&lt;br /&gt;为什么做 · 怎么比 · 结果如何&#10;    &lt;/Text&gt;&#10;  &lt;/Box&gt;&#10;  &lt;Box style={{ flex: 1, height: 720, background: '#FFFFFF', paddingLeft: 60, paddingRight: 60, paddingTop: 80, paddingBottom: 80, justifyContent: 'center' }}&gt;&#10;    &lt;Box style={{ flexDirection: 'row', alignItems: 'center', paddingBottom: 26, borderBottom: '1px solid #E5E7EB' }}&gt;&#10;      &lt;Box style={{ width: 64, height: 64, background: '#1E4FA8', borderRadius: 8, alignItems: 'center', justifyContent: 'center' }}&gt;&#10;        &lt;Text style={{ fontSize: 26, fontWeight: 'bold', color: '#FFFFFF' }}&gt;01&lt;/Text&gt;&#10;      &lt;/Box&gt;&#10;      &lt;Box style={{ marginLeft: 26, flex: 1 }}&gt;&#10;        &lt;Text style={{ fontSize: 28, fontWeight: 'bold', color: '#1A2230' }}&gt;研究动因与数据&lt;/Text&gt;&#10;        &lt;Text style={{ fontSize: 15, color: '#4A5568', marginTop: 6 }}&gt;编辑退修意见 · 163 例 CRT 队列 · 因变量与 28 个候选自变量&lt;/Text&gt;&#10;      &lt;/Box&gt;&#10;    &lt;/Box&gt;&#10;    &lt;Box style={{ flexDirection: 'row', alignItems: 'center', paddingTop: 26, paddingBottom: 26, borderBottom: '1px solid #E5E7EB' }}&gt;&#10;      &lt;Box style={{ width: 64, height: 64, background: '#1E4FA8', borderRadius: 8, alignItems: 'center', justifyContent: 'center' }}&gt;&#10;        &lt;Text style={{ fontSize: 26, fontWeight: 'bold', color: '#FFFFFF' }}&gt;02&lt;/Text&gt;&#10;      &lt;/Box&gt;&#10;      &lt;Box style={{ marginLeft: 26, flex: 1 }}&gt;&#10;        &lt;Text style={{ fontSize: 28, fontWeight: 'bold', color: '#1A2230' }}&gt;对比设计与方法&lt;/Text&gt;&#10;        &lt;Text style={{ fontSize: 15, color: '#4A5568', marginTop: 6 }}&gt;8 个候选模型 · 嵌套重复分层交叉验证 · 预处理内嵌无泄漏&lt;/Text&gt;&#10;      &lt;/Box&gt;&#10;    &lt;/Box&gt;&#10;    &lt;Box style={{ flexDirection: 'row', alignItems: 'center', paddingTop: 26 }}&gt;&#10;      &lt;Box style={{ width: 64, height: 64, background: '#1E4FA8', borderRadius: 8, alignItems: 'center', justifyContent: 'center' }}&gt;&#10;        &lt;Text style={{ fontSize: 26, fontWeight: 'bold', color: '#FFFFFF' }}&gt;03&lt;/Text&gt;&#10;      &lt;/Box&gt;&#10;      &lt;Box style={{ marginLeft: 26, flex: 1 }}&gt;&#10;        &lt;Text style={{ fontSize: 28, fontWeight: 'bold', color: '#1A2230' }}&gt;结果与发现&lt;/Text&gt;&#10;        &lt;Text style={{ fontSize: 15, color: '#4A5568', marginTop: 6 }}&gt;AUC 排行 · 配对显著性检验 · SHAP 可解释性 · 结论与下一步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9100" y="24669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19100" y="2743200"/>
            <a:ext cx="2590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19100" y="34575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19100" y="3781425"/>
            <a:ext cx="259080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三个问题，一条主线：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为什么做</a:t>
            </a:r>
            <a:r>
              <a:rPr lang="en-US" sz="11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怎么比</a:t>
            </a:r>
            <a:r>
              <a:rPr lang="en-US" sz="11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结果如何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429000" y="0"/>
            <a:ext cx="8763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4000500" y="2009775"/>
            <a:ext cx="7620000" cy="876300"/>
          </a:xfrm>
          <a:custGeom>
            <a:pathLst>
              <a:path w="800" h="92">
                <a:moveTo>
                  <a:pt x="0" y="91"/>
                </a:moveTo>
                <a:lnTo>
                  <a:pt x="800" y="91"/>
                </a:lnTo>
                <a:lnTo>
                  <a:pt x="800" y="92"/>
                </a:lnTo>
                <a:lnTo>
                  <a:pt x="0" y="92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000500" y="200977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152900" y="21621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857750" y="2038350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研究动因与数据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857750" y="2419350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编辑退修意见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163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CRT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队列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因变量与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个候选自变量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000500" y="2876550"/>
            <a:ext cx="7620000" cy="1123950"/>
          </a:xfrm>
          <a:custGeom>
            <a:pathLst>
              <a:path w="800" h="118">
                <a:moveTo>
                  <a:pt x="0" y="117"/>
                </a:moveTo>
                <a:lnTo>
                  <a:pt x="800" y="117"/>
                </a:lnTo>
                <a:lnTo>
                  <a:pt x="800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4000500" y="31242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152900" y="32766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857750" y="3152775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对比设计与方法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857750" y="3533775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个候选模型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嵌套重复分层交叉验证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预处理内嵌无泄漏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4000500" y="423862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152900" y="43910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857750" y="4267200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结果与发现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857750" y="4648200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AUC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排行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配对显著性检验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SHAP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可解释性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结论与下一步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19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1&lt;/Text&gt;&#10;    &lt;Box style={{ marginLeft: 40, flex: 1 }}&gt;&#10;      &lt;Text style={{ fontSize: 15, color: '#3D7BD9', letterSpacing: 4 }}&gt;SECTION 01&lt;/Text&gt;&#10;      &lt;Text style={{ fontSize: 42, fontWeight: 'bold', color: '#0E3F8C', marginTop: 10 }}&gt;研究动因与数据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编辑退修意见：稿件缺少 AI 算法、深度学习等内容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沿用同一套 163 例数据，与已发表 LASSO 结果直接可比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建模任务明确：response 为因变量，其余 28 列为候选自变量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01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研究动因与数据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编辑退修意见：稿件缺少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算法、深度学习等内容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9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沿用同一套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163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例数据，与已发表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结果直接可比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521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建模任务明确：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response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为因变量，其余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列为候选自变量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编辑的退修意见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 }}&gt;&#10;    &lt;Box style={{ flexDirection: 'row', gap: 24, height: 440 }}&gt;&#10;      &lt;Box style={{ width: 700, background: '#0E3F8C', borderRadius: 12, padding: 36, justifyContent: 'space-between' }}&gt;&#10;        &lt;Box&gt;&#10;          &lt;Text style={{ fontSize: 60, fontWeight: 'bold', color: 'rgba(255,255,255,0.35)', lineHeight: 1 }}&gt;“&lt;/Text&gt;&#10;          &lt;Text style={{ fontSize: 20, color: '#FFFFFF', lineHeight: 1.85, marginTop: 8 }}&gt;&#10;            于老师，我看了，这个稿件&lt;span style={{ fontWeight: 'bold', color: '#FFC107' }}&gt;没有涉及 AI 算法、深度学习、影像智能重建或分析、大数据挖掘&lt;/span&gt;这些 ITM 明确列出的方向。它更像是一篇传统的影像生物标志物研究，偏临床预测模型，而不是智能转化医学的范畴，您看看能不能增加这方面的内容。&#10;          &lt;/Text&gt;&#10;        &lt;/Box&gt;&#10;        &lt;Text style={{ fontSize: 15, color: 'rgba(255,255,255,0.7)', textAlign: 'right' }}&gt;—— ITM 编辑退修意见（2026 年 10 月）&lt;/Text&gt;&#10;      &lt;/Box&gt;&#10;      &lt;Box style={{ flex: 1, justifyContent: 'space-between' }}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1&lt;/Text&gt;&#10;            &lt;/Box&gt;&#10;            &lt;Text style={{ fontSize: 21, fontWeight: 'bold', color: '#1A2230', marginLeft: 12 }}&gt;这是方向性要求&lt;/Text&gt;&#10;          &lt;/Box&gt;&#10;          &lt;Text style={{ fontSize: 15, color: '#4A5568', lineHeight: 1.6, marginTop: 10 }}&gt;不是文字润色，而是必须真正补上 AI 建模内容，否则无法进入 ITM 的收稿范围。&lt;/Text&gt;&#10;        &lt;/Box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2&lt;/Text&gt;&#10;            &lt;/Box&gt;&#10;            &lt;Text style={{ fontSize: 21, fontWeight: 'bold', color: '#1A2230', marginLeft: 12 }}&gt;同一套数据才可比&lt;/Text&gt;&#10;          &lt;/Box&gt;&#10;          &lt;Text style={{ fontSize: 15, color: '#4A5568', lineHeight: 1.6, marginTop: 10 }}&gt;沿用已发表 LASSO 研究的 163 例队列与同一组变量，新旧结果才有可比性。&lt;/Text&gt;&#10;        &lt;/Box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3&lt;/Text&gt;&#10;            &lt;/Box&gt;&#10;            &lt;Text style={{ fontSize: 21, fontWeight: 'bold', color: '#1A2230', marginLeft: 12 }}&gt;一次投入，两篇产出&lt;/Text&gt;&#10;          &lt;/Box&gt;&#10;          &lt;Text style={{ fontSize: 15, color: '#4A5568', lineHeight: 1.6, marginTop: 10 }}&gt;基准对比支撑新 article，方法学梳理同时喂给综述。&lt;/Text&gt;&#10;        &lt;/Box&gt;&#10;      &lt;/Box&gt;&#10;    &lt;/Box&gt;&#10;    &lt;Box style={{ marginTop: 24, height: 56, background: '#1E4FA8', borderRadius: 8, flexDirection: 'row', alignItems: 'center', paddingLeft: 24, paddingRight: 24 }}&gt;&#10;      &lt;Text style={{ fontSize: 19, fontWeight: 'bold', color: '#FFFFFF' }}&gt;本页落点：要做的不是&quot;再加一段 AI&quot;，而是回答——这批数据到底适配哪一种 AI 模型？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编辑的退修意见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381000" y="952500"/>
            <a:ext cx="6667500" cy="4191000"/>
          </a:xfrm>
          <a:prstGeom prst="roundRect">
            <a:avLst>
              <a:gd name="adj" fmla="val 272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23900" y="1295400"/>
            <a:ext cx="598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50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“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23900" y="2057400"/>
            <a:ext cx="5981700" cy="1695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于老师，我看了，这个稿件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没有涉及</a:t>
            </a:r>
            <a:r>
              <a:rPr lang="en-US" sz="150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算法、深度学习、影像智能重建或分析、大数据挖掘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这些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ITM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明确列出的方向。它更像是一篇传统的影像生物标志物研究，偏临床预测模型，而不是智能转化医学的范畴，您看看能不能增加这方面的内容。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23900" y="4629150"/>
            <a:ext cx="59817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—— ITM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编辑退修意见（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月）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277100" y="9525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7467600" y="11620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581900" y="12001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这是方向性要求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67600" y="1485900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不是文字润色，而是必须真正补上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建模内容，否则无法进入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ITM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的收稿范围。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277100" y="24003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7467600" y="26098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581900" y="26479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143875" y="259080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同一套数据才可比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467600" y="2933700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沿用已发表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研究的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例队列与同一组变量，新旧结果才有可比性。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277100" y="38481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7467600" y="40576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581900" y="40957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8143875" y="403860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一次投入，两篇产出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467600" y="4381500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基准对比支撑新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article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，方法学梳理同时喂给综述。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81000" y="537210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5534025"/>
            <a:ext cx="7115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本页落点：要做的不是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再加一段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AI"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，而是回答——这批数据到底适配哪一种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模型？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6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数据与建模任务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, flexDirection: 'row', gap: 28 }}&gt;&#10;    &lt;Box style={{ width: 330, justifyContent: 'center' }}&gt;&#10;      &lt;Box style={{ width: 56, height: 5, background: '#1E4FA8' }} /&gt;&#10;      &lt;Text style={{ fontSize: 32, fontWeight: 'bold', color: '#0E3F8C', marginTop: 16, lineHeight: 1.4 }}&gt;一份队列，&lt;br /&gt;一个明确的&lt;br /&gt;预测任务&lt;/Text&gt;&#10;      &lt;Text style={{ fontSize: 16, color: '#4A5568', lineHeight: 1.75, marginTop: 22 }}&gt;&#10;        数据来自南京医科大学第一附属医院 2010–2020 年药物难治性心衰 CRT 患者，与已发表论文（Jiang et al., QIMS 2025）完全同源。&#10;      &lt;/Text&gt;&#10;      &lt;Text style={{ fontSize: 16, color: '#4A5568', lineHeight: 1.75, marginTop: 14 }}&gt;&#10;        全部变量均为数值型，无需复杂特征工程即可直接进入统一对比框架。&#10;      &lt;/Text&gt;&#10;    &lt;/Box&gt;&#10;    &lt;Box style={{ flex: 1 }}&gt;&#10;      &lt;Box style={{ flexDirection: 'row', gap: 16 }}&gt;&#10;        &lt;Box style={{ flex: 1, background: '#F0F5FC', borderRadius: 10, padding: 18, alignItems: 'center' }}&gt;&#10;          &lt;Text style={{ fontSize: 46, fontWeight: 'bold', color: '#1E4FA8', lineHeight: 1.1 }}&gt;163&lt;/Text&gt;&#10;          &lt;Text style={{ fontSize: 15, color: '#4A5568', marginTop: 6 }}&gt;例患者&lt;/Text&gt;&#10;        &lt;/Box&gt;&#10;        &lt;Box style={{ flex: 1, background: '#F0F5FC', borderRadius: 10, padding: 18, alignItems: 'center' }}&gt;&#10;          &lt;Text style={{ fontSize: 46, fontWeight: 'bold', color: '#1E4FA8', lineHeight: 1.1 }}&gt;29&lt;/Text&gt;&#10;          &lt;Text style={{ fontSize: 15, color: '#4A5568', marginTop: 6 }}&gt;列变量&lt;/Text&gt;&#10;        &lt;/Box&gt;&#10;        &lt;Box style={{ flex: 1, background: '#F0F5FC', borderRadius: 10, padding: 18, alignItems: 'center' }}&gt;&#10;          &lt;Text style={{ fontSize: 46, fontWeight: 'bold', color: '#1E4FA8', lineHeight: 1.1 }}&gt;93:70&lt;/Text&gt;&#10;          &lt;Text style={{ fontSize: 15, color: '#4A5568', marginTop: 6 }}&gt;应答 : 不应答&lt;/Text&gt;&#10;        &lt;/Box&gt;&#10;      &lt;/Box&gt;&#10;      &lt;Table&#10;        style={{ width: '100%', height: 238, marginTop: 16 }}&#10;        defaultTextStyle={{ fontSize: 1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变量类别', textStyle: { bold: true, color: '#FFFFFF' }, cellStyle: { background: { color: '#1E4FA8' } } },&#10;            { text: '具体变量', textStyle: { bold: true, color: '#FFFFFF' }, cellStyle: { background: { color: '#1E4FA8' } } },&#10;            { text: '类型', textStyle: { bold: true, color: '#FFFFFF' }, cellStyle: { background: { color: '#1E4FA8' } } },&#10;          ],&#10;          ['人口学 / 合并症', 'Gender_male, Age, DCM, Hypertension, Diabetes', '连续 + 二分类'],&#10;          ['心电图 / 心律', 'QRSd_ms, NS_VT', '连续 + 二分类'],&#10;          ['化验 / 功能分级', 'NT_proBNP（有序 1–5）, NYHA（2–4）', '有序分类'],&#10;          ['超声心动图', 'EDV, ESV, LVEDD, LVESD, LVEF_Echo', '连续'],&#10;          ['SPECT 影像 / 相位', 'LVEF_SPECT, Rest_Scar_Burden, PSD / PBW, match, lead_in_scar', '连续 + 二分类'],&#10;          ['用药', 'ARB, ACEI, βblocker, Diuretic, Spironolactone', '二分类'],&#10;        ]}&#10;      /&gt;&#10;      &lt;Box style={{ marginTop: 16, flexDirection: 'row', alignItems: 'center', background: '#F7F9FC', border: '1px solid #D6DCE5', borderRadius: 8, paddingLeft: 18, paddingRight: 18, paddingTop: 14, paddingBottom: 14 }}&gt;&#10;        &lt;Box style={{ width: 10, height: 10, borderRadius: 5, background: '#D9534F' }} /&gt;&#10;        &lt;Text style={{ fontSize: 15, color: '#4A5568', marginLeft: 14, flex: 1 }}&gt;&#10;          数据质量备注：Age 有 1 例取值 165（疑录入错误，保留原值以与已发表队列一致）；全表 0 缺失、无重复行。&#10;        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数据与建模任务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381000" y="1771650"/>
            <a:ext cx="5334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381000" y="1971675"/>
            <a:ext cx="3143250" cy="1543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一份队列，</a:t>
            </a:r>
            <a:endParaRPr/>
          </a:p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一个明确的</a:t>
            </a:r>
            <a:endParaRPr/>
          </a:p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预测任务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81000" y="3724275"/>
            <a:ext cx="31432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数据来自南京医科大学第一附属医院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2010–2020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年药物难治性心衰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CRT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患者，与已发表论文（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Jiang et al., QIMS 2025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）完全同源。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381000" y="4819650"/>
            <a:ext cx="3143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全部变量均为数值型，无需复杂特征工程即可直接进入统一对比框架。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79095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667250" y="1123950"/>
            <a:ext cx="819150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163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867275" y="17621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例患者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51510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534275" y="1123950"/>
            <a:ext cx="54292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29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591425" y="17621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列变量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23925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925050" y="1123950"/>
            <a:ext cx="120967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93:70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0106025" y="17621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应答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: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不应答</a:t>
            </a:r>
            <a:endParaRPr/>
          </a:p>
        </p:txBody>
      </p:sp>
      <p:graphicFrame>
        <p:nvGraphicFramePr>
          <p:cNvPr id="185" name=""/>
          <p:cNvGraphicFramePr/>
          <p:nvPr/>
        </p:nvGraphicFramePr>
        <p:xfrm rot="0" flipH="0" flipV="0">
          <a:off x="3790950" y="2257425"/>
          <a:ext cx="8020050" cy="2266950"/>
        </p:xfrm>
        <a:graphic>
          <a:graphicData uri="http://schemas.openxmlformats.org/drawingml/2006/table">
            <a:tbl>
              <a:tblGrid>
                <a:gridCol w="1544789">
                  <a:extLst>
                    <a:ext uri="{9D8B030D-6E8A-4147-A177-3AD203B41FA5}">
                      <a16:colId val="1"/>
                    </a:ext>
                  </a:extLst>
                </a:gridCol>
                <a:gridCol w="5263301">
                  <a:extLst>
                    <a:ext uri="{9D8B030D-6E8A-4147-A177-3AD203B41FA5}">
                      <a16:colId val="2"/>
                    </a:ext>
                  </a:extLst>
                </a:gridCol>
                <a:gridCol w="121195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变量类别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具体变量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人口学 / 合并症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Gender_male, Age, DCM, Hypertension, Diabetes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心电图 / 心律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QRSd_ms, NS_VT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化验 / 功能分级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NT_proBNP（有序 1–5）, NYHA（2–4）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有序分类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超声心动图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EDV, ESV, LVEDD, LVESD, LVEF_Echo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SPECT 影像 / 相位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LVEF_SPECT, Rest_Scar_Burden, PSD / PBW, match, lead_in_scar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ARB, ACEI, βblocker, Diuretic, Spironolactone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186" name=""/>
          <p:cNvSpPr/>
          <p:nvPr/>
        </p:nvSpPr>
        <p:spPr>
          <a:xfrm rot="0" flipH="0" flipV="0">
            <a:off x="3790950" y="4676775"/>
            <a:ext cx="8020050" cy="438150"/>
          </a:xfrm>
          <a:prstGeom prst="roundRect">
            <a:avLst>
              <a:gd name="adj" fmla="val 173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3962400" y="4848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191000" y="4810125"/>
            <a:ext cx="7448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数据质量备注：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Age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例取值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（疑录入错误，保留原值以与已发表队列一致）；全表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缺失、无重复行。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2&lt;/Text&gt;&#10;    &lt;Box style={{ marginLeft: 40, flex: 1 }}&gt;&#10;      &lt;Text style={{ fontSize: 15, color: '#3D7BD9', letterSpacing: 4 }}&gt;SECTION 02&lt;/Text&gt;&#10;      &lt;Text style={{ fontSize: 42, fontWeight: 'bold', color: '#0E3F8C', marginTop: 10 }}&gt;对比设计与方法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8 个候选模型：从正则化线性模型一直到深度学习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嵌套重复分层交叉验证：外层 5 折 × 5 次重复，内层 3 折调参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预处理与调参只发生在训练折内，全程杜绝数据泄漏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02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对比设计与方法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4171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个候选模型：从正则化线性模型一直到深度学习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525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嵌套重复分层交叉验证：外层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折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次重复，内层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折调参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预处理与调参只发生在训练折内，全程杜绝数据泄漏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9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8 个候选模型与无泄漏对比设计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 }}&gt;&#10;    &lt;svg width={1200} height={250} viewBox='0 0 1200 250'&gt;&#10;      &lt;rect x='8' y='30' width='200' height='76' rx='10' fill='#F0F5FC' stroke='#1E4FA8' strokeWidth='1.5' /&gt;&#10;      &lt;text x='108' y='62' textAnchor='middle' fontSize='17' fontWeight='bold' fill='#0E3F8C'&gt;全体数据&lt;/text&gt;&#10;      &lt;text x='108' y='88' textAnchor='middle' fontSize='13' fill='#4A5568'&gt;163 例 × 29 列&lt;/text&gt;&#10;      &lt;line x1='212' y1='68' x2='238' y2='68' stroke='#8B97A8' strokeWidth='2' /&gt;&#10;      &lt;polygon points='238,61 248,68 238,75' fill='#8B97A8' /&gt;&#10;      &lt;rect x='248' y='30' width='210' height='76' rx='10' fill='#F0F5FC' stroke='#1E4FA8' strokeWidth='1.5' /&gt;&#10;      &lt;text x='353' y='62' textAnchor='middle' fontSize='17' fontWeight='bold' fill='#0E3F8C'&gt;外层交叉验证&lt;/text&gt;&#10;      &lt;text x='353' y='88' textAnchor='middle' fontSize='13' fill='#4A5568'&gt;5 折 × 5 次重复&lt;/text&gt;&#10;      &lt;line x1='462' y1='68' x2='488' y2='68' stroke='#8B97A8' strokeWidth='2' /&gt;&#10;      &lt;polygon points='488,61 498,68 488,75' fill='#8B97A8' /&gt;&#10;      &lt;rect x='498' y='30' width='210' height='76' rx='10' fill='#1E4FA8' stroke='#1E4FA8' strokeWidth='1.5' /&gt;&#10;      &lt;text x='603' y='62' textAnchor='middle' fontSize='17' fontWeight='bold' fill='#FFFFFF'&gt;训练折（80%）&lt;/text&gt;&#10;      &lt;text x='603' y='88' textAnchor='middle' fontSize='13' fill='#DCE6F5'&gt;内层 3 折网格调参&lt;/text&gt;&#10;      &lt;line x1='712' y1='68' x2='738' y2='68' stroke='#8B97A8' strokeWidth='2' /&gt;&#10;      &lt;polygon points='738,61 748,68 738,75' fill='#8B97A8' /&gt;&#10;      &lt;rect x='748' y='30' width='200' height='76' rx='10' fill='#F0F5FC' stroke='#1E4FA8' strokeWidth='1.5' /&gt;&#10;      &lt;text x='848' y='62' textAnchor='middle' fontSize='17' fontWeight='bold' fill='#0E3F8C'&gt;测试折（20%）&lt;/text&gt;&#10;      &lt;text x='848' y='88' textAnchor='middle' fontSize='13' fill='#4A5568'&gt;折外预测&lt;/text&gt;&#10;      &lt;line x1='952' y1='68' x2='978' y2='68' stroke='#8B97A8' strokeWidth='2' /&gt;&#10;      &lt;polygon points='978,61 988,68 978,75' fill='#8B97A8' /&gt;&#10;      &lt;rect x='988' y='30' width='204' height='76' rx='10' fill='#F0F5FC' stroke='#1E4FA8' strokeWidth='1.5' /&gt;&#10;      &lt;text x='1090' y='62' textAnchor='middle' fontSize='17' fontWeight='bold' fill='#0E3F8C'&gt;汇总评估&lt;/text&gt;&#10;      &lt;text x='1090' y='88' textAnchor='middle' fontSize='13' fill='#4A5568'&gt;25 组折外结果&lt;/text&gt;&#10;      &lt;rect x='8' y='150' width='1184' height='44' rx='8' fill='#F0F5FC' /&gt;&#10;      &lt;text x='600' y='178' textAnchor='middle' fontSize='17' fill='#0E3F8C'&gt;标准化、缺失填补与超参搜索全部只发生在训练折内 —— 预处理内嵌于建模管道，全程无数据泄漏&lt;/text&gt;&#10;    &lt;/svg&gt;&#10;    &lt;Box style={{ flexDirection: 'row', gap: 14, marginTop: 16 }}&gt;&#10;      {[&#10;        { name: 'Logistic_LASSO 基线', tag: '已发表方法', dl: false },&#10;        { name: 'Logistic_L2', tag: '正则化线性', dl: false },&#10;        { name: '随机森林 RF', tag: ' bagging 集成', dl: false },&#10;        { name: 'SVM_rbf', tag: '核方法', dl: false },&#10;      ].map((m, i) =&gt; (&#10;        &lt;Box key={i} style={{ flex: 1, background: '#F0F5FC', border: '1px solid #D6DCE5', borderLeft: '4px solid #1E4FA8', borderRadius: 8, paddingLeft: 14, paddingRight: 14, paddingTop: 12, paddingBottom: 12, height: 62, justifyContent: 'center' }}&gt;&#10;          &lt;Text style={{ fontSize: 17, fontWeight: 'bold', color: '#0E3F8C' }}&gt;{m.name}&lt;/Text&gt;&#10;          &lt;Text style={{ fontSize: 12, color: '#8B97A8', marginTop: 3 }}&gt;{m.tag}&lt;/Text&gt;&#10;        &lt;/Box&gt;&#10;      ))}&#10;    &lt;/Box&gt;&#10;    &lt;Box style={{ flexDirection: 'row', gap: 14, marginTop: 12 }}&gt;&#10;      {[&#10;        { name: 'XGBoost', tag: '梯度提升树', dl: false },&#10;        { name: 'LightGBM', tag: '梯度提升树', dl: false },&#10;        { name: 'MLP 多层感知机', tag: '深度学习', dl: true },&#10;        { name: 'TabNet', tag: '深度学习 · 注意力特征', dl: true },&#10;      ].map((m, i) =&gt; (&#10;        &lt;Box key={i} style={{ flex: 1, background: '#F0F5FC', border: '1px solid #D6DCE5', borderLeft: '4px solid #D9534F', borderRadius: 8, paddingLeft: 14, paddingRight: 14, paddingTop: 12, paddingBottom: 12, height: 62, justifyContent: 'center' }}&gt;&#10;          &lt;Text style={{ fontSize: 17, fontWeight: 'bold', color: m.dl ? '#D9534F' : '#0E3F8C' }}&gt;{m.name}&lt;/Text&gt;&#10;          &lt;Text style={{ fontSize: 12, color: '#8B97A8', marginTop: 3 }}&gt;{m.tag}&lt;/Text&gt;&#10;        &lt;/Box&gt;&#10;      ))}&#10;    &lt;/Box&gt;&#10;    &lt;Box style={{ marginTop: 16, height: 50, background: '#0E3F8C', borderRadius: 8, flexDirection: 'row', alignItems: 'center', paddingLeft: 22, paddingRight: 22 }}&gt;&#10;      &lt;Text style={{ fontSize: 17, color: '#FFFFFF' }}&gt;评价指标：AUC · Brier · 校准斜率 · Youden 敏感性/特异性 · DCA 净收益　|　统计检验：配对 Wilcoxon + Holm 校正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48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个候选模型与无泄漏对比设计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52500"/>
            <a:ext cx="11430000" cy="2381250"/>
          </a:xfrm>
          <a:prstGeom prst="rect">
            <a:avLst/>
          </a:prstGeom>
          <a:ln/>
        </p:spPr>
      </p:pic>
      <p:sp>
        <p:nvSpPr>
          <p:cNvPr id="216" name=""/>
          <p:cNvSpPr/>
          <p:nvPr/>
        </p:nvSpPr>
        <p:spPr>
          <a:xfrm rot="0" flipH="0" flipV="0">
            <a:off x="419100" y="348615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419100" y="3486150"/>
            <a:ext cx="2762250" cy="590550"/>
          </a:xfrm>
          <a:custGeom>
            <a:pathLst>
              <a:path w="290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52450" y="360045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Logistic_LASSO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52450" y="38290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已发表方法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314700" y="3486150"/>
            <a:ext cx="2752725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3314700" y="3486150"/>
            <a:ext cx="2752725" cy="590550"/>
          </a:xfrm>
          <a:custGeom>
            <a:pathLst>
              <a:path w="289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448050" y="3600450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Logistic_L2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448050" y="3829050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正则化线性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200775" y="348615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6200775" y="3486150"/>
            <a:ext cx="2762250" cy="590550"/>
          </a:xfrm>
          <a:custGeom>
            <a:pathLst>
              <a:path w="290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334125" y="360045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随机森林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RF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334125" y="38290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bagging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096375" y="3486150"/>
            <a:ext cx="2752725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9096375" y="3486150"/>
            <a:ext cx="2752725" cy="590550"/>
          </a:xfrm>
          <a:custGeom>
            <a:pathLst>
              <a:path w="289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29725" y="3600450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SVM_rbf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229725" y="3829050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核方法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419100" y="419100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419100" y="4191000"/>
            <a:ext cx="2762250" cy="590550"/>
          </a:xfrm>
          <a:custGeom>
            <a:pathLst>
              <a:path w="290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2450" y="430530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XGBoost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52450" y="453390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梯度提升树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314700" y="4191000"/>
            <a:ext cx="2752725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3314700" y="4191000"/>
            <a:ext cx="2752725" cy="590550"/>
          </a:xfrm>
          <a:custGeom>
            <a:pathLst>
              <a:path w="289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448050" y="4305300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>LightGBM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448050" y="4533900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梯度提升树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200775" y="4191000"/>
            <a:ext cx="2762250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1" name=""/>
          <p:cNvSpPr/>
          <p:nvPr/>
        </p:nvSpPr>
        <p:spPr>
          <a:xfrm rot="0" flipH="0" flipV="0">
            <a:off x="6200775" y="4191000"/>
            <a:ext cx="2762250" cy="590550"/>
          </a:xfrm>
          <a:custGeom>
            <a:pathLst>
              <a:path w="290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334125" y="4305300"/>
            <a:ext cx="2457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MLP </a:t>
            </a: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多层感知机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334125" y="453390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深度学习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9096375" y="4191000"/>
            <a:ext cx="2752725" cy="590550"/>
          </a:xfrm>
          <a:prstGeom prst="roundRect">
            <a:avLst>
              <a:gd name="adj" fmla="val 1290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9096375" y="4191000"/>
            <a:ext cx="2752725" cy="590550"/>
          </a:xfrm>
          <a:custGeom>
            <a:pathLst>
              <a:path w="289" h="6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58"/>
                </a:lnTo>
                <a:cubicBezTo>
                  <a:pt x="4" y="60"/>
                  <a:pt x="5" y="62"/>
                  <a:pt x="7" y="62"/>
                </a:cubicBezTo>
                <a:cubicBezTo>
                  <a:pt x="3" y="62"/>
                  <a:pt x="0" y="58"/>
                  <a:pt x="0" y="5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229725" y="4305300"/>
            <a:ext cx="2447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D9534F"/>
                </a:solidFill>
                <a:latin typeface="Microsoft YaHei"/>
                <a:ea typeface="Microsoft YaHei"/>
              </a:rPr>
              <a:t>TabNet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229725" y="4533900"/>
            <a:ext cx="2447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深度学习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注意力特征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81000" y="4933950"/>
            <a:ext cx="11430000" cy="476250"/>
          </a:xfrm>
          <a:prstGeom prst="roundRect">
            <a:avLst>
              <a:gd name="adj" fmla="val 16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90550" y="5076825"/>
            <a:ext cx="852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评价指标：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AUC · Brier ·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校准斜率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Youden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敏感性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特异性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DCA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净收益　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>|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　统计检验：配对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Wilcoxon + Holm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校正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54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3&lt;/Text&gt;&#10;    &lt;Box style={{ marginLeft: 40, flex: 1 }}&gt;&#10;      &lt;Text style={{ fontSize: 15, color: '#3D7BD9', letterSpacing: 4 }}&gt;SECTION 03&lt;/Text&gt;&#10;      &lt;Text style={{ fontSize: 42, fontWeight: 'bold', color: '#0E3F8C', marginTop: 10 }}&gt;结果与发现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AUC 排行：RBF 核 SVM 以 0.820 居首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配对显著性检验：差异不是抽样波动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SHAP 可解释性：与已发表的临床叙事一致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03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结果与发现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334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AUC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排行：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RBF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核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SVM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以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0.820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居首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配对显著性检验：差异不是抽样波动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可解释性：与已发表的临床叙事一致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270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最优模型：RBF 核 SVM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, flexDirection: 'row', gap: 26 }}&gt;&#10;    &lt;Box style={{ width: 660 }}&gt;&#10;      &lt;Box style={{ flexDirection: 'row', alignItems: 'flex-end' }}&gt;&#10;        &lt;Text style={{ fontSize: 96, fontWeight: 'bold', color: '#1E4FA8', lineHeight: 1 }}&gt;0.820&lt;/Text&gt;&#10;        &lt;Box style={{ marginLeft: 20, marginBottom: 8 }}&gt;&#10;          &lt;Text style={{ fontSize: 22, fontWeight: 'bold', color: '#1A2230' }}&gt;SVM_rbf 折均 AUC&lt;/Text&gt;&#10;          &lt;Text style={{ fontSize: 14, color: '#8B97A8', marginTop: 4 }}&gt;25 个外层折的均值 ± SD&lt;/Text&gt;&#10;        &lt;/Box&gt;&#10;      &lt;/Box&gt;&#10;      &lt;Table&#10;        style={{ width: '100%', height: 288, marginTop: 18 }}&#10;        defaultTextStyle={{ fontSize: 1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模型', textStyle: { bold: true, color: '#FFFFFF' }, cellStyle: { background: { color: '#1E4FA8' } } },&#10;            { text: '折均 AUC', textStyle: { bold: true, color: '#FFFFFF' }, cellStyle: { background: { color: '#1E4FA8' } } },&#10;            { text: '± SD', textStyle: { bold: true, color: '#FFFFFF' }, cellStyle: { background: { color: '#1E4FA8' } } },&#10;          ],&#10;          [&#10;            { text: 'SVM_rbf', textStyle: { bold: true }, cellStyle: { background: { color: '#E8EFF8' } } },&#10;            { text: '0.820', textStyle: { bold: true, color: '#1E4FA8' }, cellStyle: { background: { color: '#E8EFF8' } } },&#10;            { text: '0.060', cellStyle: { background: { color: '#E8EFF8' } } },&#10;          ],&#10;          ['Logistic_L2', '0.793', '0.054'],&#10;          ['XGBoost', '0.757', '0.061'],&#10;          ['Logistic_LASSO 基线（已发表）', '0.746', '0.074'],&#10;          ['LightGBM', '0.745', '0.075'],&#10;          ['RF', '0.742', '0.036'],&#10;          ['TabNet', '0.652', '0.101'],&#10;          ['MLP', '0.559', '0.100'],&#10;        ]}&#10;      /&gt;&#10;      &lt;Text style={{ fontSize: 14, color: '#8B97A8', marginTop: 12, lineHeight: 1.5 }}&gt;&#10;        口径说明：表内为折均 AUC；右图 ROC 为折外预测合并口径（跨 5 次重复平均，SVM = 0.830）。两种口径结论一致。&#10;      &lt;/Text&gt;&#10;    &lt;/Box&gt;&#10;    &lt;Box style={{ flex: 1, alignItems: 'center' }}&gt;&#10;      &lt;Box style={{ width: 470, background: '#FFFFFF', border: '1px solid #D6DCE5', borderRadius: 12, padding: 14 }}&gt;&#10;        &lt;Image src=&quot;assets/roc_curves.png&quot; style={{ width: 442, height: 442, objectFit: 'contain' }} /&gt;&#10;        &lt;Text style={{ fontSize: 13, color: '#8B97A8', textAlign: 'center', marginTop: 8 }}&gt;8 模型折外预测合并 ROC（跨 5 次重复平均）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95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最优模型：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RBF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核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SVM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81000" y="952500"/>
            <a:ext cx="25241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E4FA8"/>
                </a:solidFill>
                <a:latin typeface="Microsoft YaHei"/>
                <a:ea typeface="Microsoft YaHei"/>
              </a:rPr>
              <a:t>0.820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095625" y="1524000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SVM_rbf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折均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AUC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095625" y="18192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个外层折的均值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± SD</a:t>
            </a:r>
            <a:endParaRPr/>
          </a:p>
        </p:txBody>
      </p:sp>
      <p:graphicFrame>
        <p:nvGraphicFramePr>
          <p:cNvPr id="279" name=""/>
          <p:cNvGraphicFramePr/>
          <p:nvPr/>
        </p:nvGraphicFramePr>
        <p:xfrm rot="0" flipH="0" flipV="0">
          <a:off x="381000" y="2228850"/>
          <a:ext cx="6286500" cy="2743200"/>
        </p:xfrm>
        <a:graphic>
          <a:graphicData uri="http://schemas.openxmlformats.org/drawingml/2006/table">
            <a:tbl>
              <a:tblGrid>
                <a:gridCol w="4056718">
                  <a:extLst>
                    <a:ext uri="{9D8B030D-6E8A-4147-A177-3AD203B41FA5}">
                      <a16:colId val="1"/>
                    </a:ext>
                  </a:extLst>
                </a:gridCol>
                <a:gridCol w="1371086">
                  <a:extLst>
                    <a:ext uri="{9D8B030D-6E8A-4147-A177-3AD203B41FA5}">
                      <a16:colId val="2"/>
                    </a:ext>
                  </a:extLst>
                </a:gridCol>
                <a:gridCol w="858696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折均 AUC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± SD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SVM_rbf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0.820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Logistic_L2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0.054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XGBoost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Logistic_LASSO 基线（已发表）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0.746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LightGBM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0.745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0.036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TabNet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0.652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048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MLP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0.559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0.100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381000" y="5086350"/>
            <a:ext cx="6286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口径说明：表内为折均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AUC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；右图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ROC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为折外预测合并口径（跨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次重复平均，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SVM = 0.830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）。两种口径结论一致。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124700" y="952500"/>
            <a:ext cx="4476750" cy="47053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8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258050" y="1085850"/>
            <a:ext cx="4210050" cy="4210050"/>
          </a:xfrm>
          <a:prstGeom prst="rect">
            <a:avLst/>
          </a:prstGeom>
          <a:ln/>
        </p:spPr>
      </p:pic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258050" y="5372100"/>
            <a:ext cx="4210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模型折外预测合并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ROC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次重复平均）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15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差异是统计显著，不是抽样波动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 }}&gt;&#10;    &lt;Box style={{ height: 44, background: '#F0F5FC', borderRadius: 8, flexDirection: 'row', alignItems: 'center', paddingLeft: 18, paddingRight: 18 }}&gt;&#10;      &lt;Text style={{ fontSize: 17, fontWeight: 'bold', color: '#0E3F8C' }}&gt;这些差异是真的吗？&lt;/Text&gt;&#10;      &lt;Text style={{ fontSize: 16, color: '#4A5568', marginLeft: 14 }}&gt;配对 Wilcoxon 检验 + Holm 校正（同一外层折配对，n = 25）&lt;/Text&gt;&#10;    &lt;/Box&gt;&#10;    &lt;Box style={{ flexDirection: 'row', gap: 22, marginTop: 14, height: 420 }}&gt;&#10;      &lt;Box style={{ width: 700 }}&gt;&#10;        &lt;Table&#10;          style={{ width: '100%', height: 272 }}&#10;          defaultTextStyle={{ fontSize: 15, textAlign: 'center', color: '#1A2230' }}&#10;          defaultCellStyle={{&#10;            border: {&#10;              left: { width: 1, color: '#E5E7EB' },&#10;              right: { width: 1, color: '#E5E7EB' },&#10;              top: { width: 1, color: '#E5E7EB' },&#10;              bottom: { width: 1, color: '#E5E7EB' },&#10;            },&#10;          }}&#10;          cells={[&#10;            [&#10;              { text: '模型', textStyle: { bold: true, color: '#FFFFFF' }, cellStyle: { background: { color: '#1E4FA8' } } },&#10;              { text: 'ΔAUC vs 基线', textStyle: { bold: true, color: '#FFFFFF' }, cellStyle: { background: { color: '#1E4FA8' } } },&#10;              { text: 'p (Holm)', textStyle: { bold: true, color: '#FFFFFF' }, cellStyle: { background: { color: '#1E4FA8' } } },&#10;              { text: '判定', textStyle: { bold: true, color: '#FFFFFF' }, cellStyle: { background: { color: '#1E4FA8' } } },&#10;            ],&#10;            [&#10;              { text: 'SVM_rbf', textStyle: { bold: true }, cellStyle: { background: { color: '#E8EFF8' } } },&#10;              { text: '+0.075', textStyle: { bold: true, color: '#1E4FA8' }, cellStyle: { background: { color: '#E8EFF8' } } },&#10;              { text: '3.9e-05', cellStyle: { background: { color: '#E8EFF8' } } },&#10;              { text: '显著更优', textStyle: { bold: true, color: '#1E4FA8' }, cellStyle: { background: { color: '#E8EFF8' } } },&#10;            ],&#10;            ['Logistic_L2', '+0.048', '0.018', { text: '显著更优', textStyle: { bold: true, color: '#1E4FA8' } }],&#10;            ['XGBoost', '+0.011', '1.000', { text: '无差异', textStyle: { color: '#8B97A8' } }],&#10;            ['LightGBM', '-0.000', '1.000', { text: '无差异', textStyle: { color: '#8B97A8' } }],&#10;            ['RF', '-0.003', '1.000', { text: '无差异', textStyle: { color: '#8B97A8' } }],&#10;            ['TabNet', '-0.094', '5.1e-04', { text: '显著更差', textStyle: { bold: true, color: '#D9534F' } }],&#10;            ['MLP', '-0.186', '4.2e-07', { text: '显著更差', textStyle: { bold: true, color: '#D9534F' } }],&#10;          ]}&#10;        /&gt;&#10;        &lt;Text style={{ fontSize: 15, color: '#4A5568', lineHeight: 1.7, marginTop: 16 }}&gt;&#10;          校准曲线同样支持这一排序：SVM 与 Logistic_L2 的预测概率贴近对角线，而 MLP 的校准明显失真——其输出不能直接当作概率使用。&#10;        &lt;/Text&gt;&#10;      &lt;/Box&gt;&#10;      &lt;Box style={{ flex: 1 }}&gt;&#10;        &lt;Box style={{ background: '#F7F9FC', border: '1px solid #D6DCE5', borderRadius: 10, padding: 16 }}&gt;&#10;          &lt;Text style={{ fontSize: 17, fontWeight: 'bold', color: '#0E3F8C' }}&gt;DCA 临床净收益&lt;/Text&gt;&#10;          &lt;Text style={{ fontSize: 14, color: '#4A5568', lineHeight: 1.6, marginTop: 8 }}&gt;&#10;            在 0.1–0.9 的全部阈值区间，SVM_rbf 的净收益曲线整体最高；MLP 甚至长期低于&quot;全部治疗&quot;基线——临床决策意义上同样不可用。&#10;          &lt;/Text&gt;&#10;        &lt;/Box&gt;&#10;        &lt;Box style={{ marginTop: 12, alignItems: 'center' }}&gt;&#10;          &lt;Image src=&quot;assets/dca_curves.png&quot; style={{ width: 288, height: 247, objectFit: 'contain' }} /&gt;&#10;          &lt;Text style={{ fontSize: 12, color: '#8B97A8', marginTop: 4 }}&gt;折外预测合并 DCA（跨 5 次重复平均）&lt;/Text&gt;&#10;        &lt;/Box&gt;&#10;      &lt;/Box&gt;&#10;    &lt;/Box&gt;&#10;    &lt;Box style={{ marginTop: 14, height: 52, background: '#0E3F8C', borderRadius: 8, flexDirection: 'row', alignItems: 'center', paddingLeft: 22, paddingRight: 22 }}&gt;&#10;      &lt;Text style={{ fontSize: 17, color: '#FFFFFF' }}&gt;读法：在 n = 163 的小样本上，SVM 的领先是统计显著的，深度学习的落后同样是统计显著的。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467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差异是统计显著，不是抽样波动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381000" y="952500"/>
            <a:ext cx="11430000" cy="419100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52450" y="10668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这些差异是真的吗？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143125" y="1066800"/>
            <a:ext cx="4333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配对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Wilcoxon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检验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Holm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校正（同一外层折配对，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n = 25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24" name=""/>
          <p:cNvGraphicFramePr/>
          <p:nvPr/>
        </p:nvGraphicFramePr>
        <p:xfrm rot="0" flipH="0" flipV="0">
          <a:off x="381000" y="1504950"/>
          <a:ext cx="6667500" cy="2590800"/>
        </p:xfrm>
        <a:graphic>
          <a:graphicData uri="http://schemas.openxmlformats.org/drawingml/2006/table">
            <a:tbl>
              <a:tblGrid>
                <a:gridCol w="1710308">
                  <a:extLst>
                    <a:ext uri="{9D8B030D-6E8A-4147-A177-3AD203B41FA5}">
                      <a16:colId val="1"/>
                    </a:ext>
                  </a:extLst>
                </a:gridCol>
                <a:gridCol w="2115686">
                  <a:extLst>
                    <a:ext uri="{9D8B030D-6E8A-4147-A177-3AD203B41FA5}">
                      <a16:colId val="2"/>
                    </a:ext>
                  </a:extLst>
                </a:gridCol>
                <a:gridCol w="1497968">
                  <a:extLst>
                    <a:ext uri="{9D8B030D-6E8A-4147-A177-3AD203B41FA5}">
                      <a16:colId val="3"/>
                    </a:ext>
                  </a:extLst>
                </a:gridCol>
                <a:gridCol w="1343538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ΔAUC vs 基线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 (Holm)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SVM_rbf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+0.075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3.9e-05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Logistic_L2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+0.048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XGBoost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+0.011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无差异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LightGBM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-0.000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无差异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-0.003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1.000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无差异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TabNet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-0.094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5.1e-04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显著更差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MLP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-0.186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4.2e-07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显著更差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381000" y="4248150"/>
            <a:ext cx="66675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校准曲线同样支持这一排序：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SVM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Logistic_L2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的预测概率贴近对角线，而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MLP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的校准明显失真——其输出不能直接当作概率使用。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258050" y="1504950"/>
            <a:ext cx="4552950" cy="1095375"/>
          </a:xfrm>
          <a:prstGeom prst="roundRect">
            <a:avLst>
              <a:gd name="adj" fmla="val 869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410450" y="1657350"/>
            <a:ext cx="4248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DCA 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临床净收益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410450" y="1933575"/>
            <a:ext cx="4248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0.1–0.9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的全部阈值区间，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SVM_rbf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的净收益曲线整体最高；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MLP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甚至长期低于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全部治疗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基线——临床决策意义上同样不可用。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 r:embed="rId1"/>
          <a:srcRect l="28" t="0" r="28" b="0"/>
          <a:stretch>
            <a:fillRect/>
          </a:stretch>
        </p:blipFill>
        <p:spPr>
          <a:xfrm rot="0" flipH="0" flipV="0">
            <a:off x="8162925" y="2714625"/>
            <a:ext cx="2743200" cy="2352675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524875" y="5105400"/>
            <a:ext cx="2019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折外预测合并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DCA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（跨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次重复平均）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81000" y="5638800"/>
            <a:ext cx="11430000" cy="49530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90550" y="5791200"/>
            <a:ext cx="6943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读法：在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n = 163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的小样本上，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SVM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的领先是统计显著的，深度学习的落后同样是统计显著的。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7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模型为什么这样选：SHAP 可解释性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, flexDirection: 'row', gap: 30 }}&gt;&#10;    &lt;Box style={{ width: 500, alignItems: 'center' }}&gt;&#10;      &lt;Box style={{ width: 480, background: '#FFFFFF', border: '1px solid #D6DCE5', borderRadius: 12, padding: 14 }}&gt;&#10;        &lt;Image src=&quot;assets/shap_bar.png&quot; style={{ width: 452, height: 475, objectFit: 'contain' }} /&gt;&#10;      &lt;/Box&gt;&#10;      &lt;Text style={{ fontSize: 12, color: '#8B97A8', marginTop: 6 }}&gt;最优模型（SVM_rbf）SHAP 重要性，KernelExplainer，全部 28 个特征&lt;/Text&gt;&#10;    &lt;/Box&gt;&#10;    &lt;Box style={{ flex: 1, justifyContent: 'center' }}&gt;&#10;      &lt;Box style={{ width: 56, height: 5, background: '#1E4FA8' }} /&gt;&#10;      &lt;Text style={{ fontSize: 26, fontWeight: 'bold', color: '#0E3F8C', marginTop: 12 }}&gt;重要性前 5 的特征&lt;/Text&gt;&#10;      &lt;Box style={{ marginTop: 18, gap: 12 }}&gt;&#10;        {[&#10;          { r: '1', n: 'LVESD', d: '左室收缩末内径 —— 左室重构程度' },&#10;          { r: '2', n: 'LVEF_Echo', d: '超声左室射血分数 —— 收缩功能' },&#10;          { r: '3', n: 'NT_proBNP', d: '神经激素水平（有序 1–5 分级）' },&#10;          { r: '4', n: 'QRSd_ms', d: 'QRS 时程 —— 电学失同步' },&#10;          { r: '5', n: 'NYHA', d: '心功能分级' },&#10;        ].map((f, i) =&gt; (&#10;          &lt;Box key={i} style={{ flexDirection: 'row', alignItems: 'center', background: '#F0F5FC', borderRadius: 8, paddingLeft: 16, paddingRight: 16, paddingTop: 12, paddingBottom: 12 }}&gt;&#10;            &lt;Box style={{ width: 34, height: 34, borderRadius: 17, background: '#1E4FA8', alignItems: 'center', justifyContent: 'center' }}&gt;&#10;              &lt;Text style={{ fontSize: 16, fontWeight: 'bold', color: '#FFFFFF' }}&gt;{f.r}&lt;/Text&gt;&#10;            &lt;/Box&gt;&#10;            &lt;Text style={{ fontSize: 18, fontWeight: 'bold', color: '#0E3F8C', marginLeft: 14 }}&gt;{f.n}&lt;/Text&gt;&#10;            &lt;Text style={{ fontSize: 14, color: '#4A5568', marginLeft: 12, flex: 1 }}&gt;{f.d}&lt;/Text&gt;&#10;          &lt;/Box&gt;&#10;        ))}&#10;      &lt;/Box&gt;&#10;      &lt;Box style={{ marginTop: 20, background: '#F7F9FC', border: '1px solid #D6DCE5', borderRadius: 10, padding: 18 }}&gt;&#10;        &lt;Text style={{ fontSize: 16, color: '#1A2230', lineHeight: 1.7 }}&gt;&#10;          与已发表论文的临床叙事&lt;span style={{ fontWeight: 'bold', color: '#1E4FA8' }}&gt;完全一致&lt;/span&gt;：左室重构更重、神经激素水平更高、电学失同步更明显的患者更难获得应答。模型不是在&quot;背数据&quot;，而是在复述临床直觉。&#10;        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1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00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模型为什么这样选：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可解释性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476250" y="952500"/>
            <a:ext cx="4572000" cy="479107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 r:embed="rId1"/>
          <a:srcRect l="42" t="0" r="42" b="0"/>
          <a:stretch>
            <a:fillRect/>
          </a:stretch>
        </p:blipFill>
        <p:spPr>
          <a:xfrm rot="0" flipH="0" flipV="0">
            <a:off x="609600" y="1085850"/>
            <a:ext cx="4305300" cy="4524375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23925" y="5800725"/>
            <a:ext cx="3676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最优模型（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SVM_rbf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重要性，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KernelExplainer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，全部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个特征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5429250" y="1114425"/>
            <a:ext cx="5334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429250" y="1276350"/>
            <a:ext cx="6381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重要性前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的特征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429250" y="17526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5581650" y="1866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695950" y="19335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38850" y="1924050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LVESD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696075" y="1952625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左室收缩末内径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左室重构程度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429250" y="241935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5581650" y="25336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695950" y="26003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38850" y="2590800"/>
            <a:ext cx="895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LVEF_Echo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048500" y="26193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超声左室射血分数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收缩功能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429250" y="30861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581650" y="32004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695950" y="3267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38850" y="3257550"/>
            <a:ext cx="100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NT_proBNP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162800" y="3286125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神经激素水平（有序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1–5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分级）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429250" y="375285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581650" y="3867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695950" y="39338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38850" y="3924300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QRSd_ms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962775" y="3952875"/>
            <a:ext cx="4695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QRS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时程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电学失同步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5429250" y="44196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5581650" y="4533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695950" y="46005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38850" y="4591050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NYHA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686550" y="461962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心功能分级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429250" y="5162550"/>
            <a:ext cx="6381750" cy="971550"/>
          </a:xfrm>
          <a:prstGeom prst="roundRect">
            <a:avLst>
              <a:gd name="adj" fmla="val 98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600700" y="5334000"/>
            <a:ext cx="60388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与已发表论文的临床叙事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完全一致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：左室重构更重、神经激素水平更高、电学失同步更明显的患者更难获得应答。模型不是在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背数据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，而是在复述临床直觉。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 1280, height: 720, background: '#FFFFFF', paddingLeft: 90, paddingRight: 90, paddingTop: 60, paddingBottom: 60, justifyContent: 'center', fontFamily: '&quot;Microsoft YaHei&quot;,&quot;Source Han Sans SC&quot;,&quot;Noto Sans SC&quot;,sans-serif' }}&gt;&#10;  &lt;Box style={{ alignItems: 'center' }}&gt;&#10;    &lt;Text style={{ fontSize: 15, color: '#3D7BD9', letterSpacing: 4 }}&gt;CONCLUSION&lt;/Text&gt;&#10;    &lt;Text style={{ fontSize: 34, fontWeight: 'bold', color: '#0E3F8C', lineHeight: 1.5, textAlign: 'center', marginTop: 18 }}&gt;&#10;      小样本临床数据上，适配的 AI 是&lt;span style={{ color: '#1E4FA8' }}&gt;强正则的核方法&lt;/span&gt;，&lt;br /&gt;而不是更深的网络。&#10;    &lt;/Text&gt;&#10;    &lt;Box style={{ width: 72, height: 5, background: '#1E4FA8', marginTop: 24 }} /&gt;&#10;  &lt;/Box&gt;&#10;  &lt;Box style={{ marginTop: 40, gap: 14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19, color: '#1A2230', marginLeft: 18 }}&gt;&#10;        SVM_rbf 折均 AUC &lt;span style={{ fontWeight: 'bold', color: '#1E4FA8' }}&gt;0.820&lt;/span&gt;，显著优于已发表 LASSO 方法（+0.075，Holm 校正 p = 3.9e-05）&#10;      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D9534F' }} /&gt;&#10;      &lt;Text style={{ fontSize: 19, color: '#1A2230', marginLeft: 18 }}&gt;&#10;        深度学习（MLP / TabNet）&lt;span style={{ fontWeight: 'bold', color: '#D9534F' }}&gt;显著更差&lt;/span&gt;——在本数据集、本样本量下不推荐使用&#10;      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19, color: '#1A2230', marginLeft: 18 }}&gt;&#10;        SHAP 前列特征（LVESD、LVEF_Echo、NT_proBNP、QRSd_ms、NYHA）与临床叙事一致，支撑可解释落地&#10;      &lt;/Text&gt;&#10;    &lt;/Box&gt;&#10;  &lt;/Box&gt;&#10;  &lt;Box style={{ marginTop: 34, height: 58, background: '#0E3F8C', borderRadius: 8, flexDirection: 'row', alignItems: 'center', paddingLeft: 24, paddingRight: 24, justifyContent: 'space-between' }}&gt;&#10;    &lt;Text style={{ fontSize: 18, fontWeight: 'bold', color: '#FFFFFF' }}&gt;下一步&lt;/Text&gt;&#10;    &lt;Text style={{ fontSize: 17, color: '#DCE6F5' }}&gt;按 TRIPOD+AI 规范起草新 article：以 SVM + SHAP 为主线；方法学对比素材同步整理为综述&lt;/Text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429250" y="990600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CONCLUSION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2419350" y="1333500"/>
            <a:ext cx="7353300" cy="11715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小样本临床数据上，适配的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是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强正则的核方法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而不是更深的网络。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753100" y="2733675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857250" y="3162300"/>
            <a:ext cx="10477500" cy="523875"/>
          </a:xfrm>
          <a:prstGeom prst="roundRect">
            <a:avLst>
              <a:gd name="adj" fmla="val 1454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1085850" y="3381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352550" y="3314700"/>
            <a:ext cx="773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SVM_rbf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折均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AUC 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0.820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，显著优于已发表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方法（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+0.075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Holm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校正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 = 3.9e-05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857250" y="3819525"/>
            <a:ext cx="10477500" cy="523875"/>
          </a:xfrm>
          <a:prstGeom prst="roundRect">
            <a:avLst>
              <a:gd name="adj" fmla="val 1454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1085850" y="4038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352550" y="3971925"/>
            <a:ext cx="6286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深度学习（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MLP / TabNet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显著更差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——在本数据集、本样本量下不推荐使用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57250" y="4476750"/>
            <a:ext cx="10477500" cy="523875"/>
          </a:xfrm>
          <a:prstGeom prst="roundRect">
            <a:avLst>
              <a:gd name="adj" fmla="val 1454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1085850" y="4695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352550" y="4629150"/>
            <a:ext cx="8848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前列特征（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LVESD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LVEF_Echo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NT_proBNP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QRSd_ms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NYHA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）与临床叙事一致，支撑可解释落地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857250" y="5324475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085850" y="54959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286250" y="5505450"/>
            <a:ext cx="6819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按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 xml:space="preserve"> TRIPOD+AI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规范起草新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 xml:space="preserve"> article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：以</a:t>
            </a:r>
            <a:r>
              <a:rPr lang="en-US" sz="1275">
                <a:solidFill>
                  <a:srgbClr val="DCE6F5"/>
                </a:solidFill>
                <a:latin typeface="Microsoft YaHei"/>
                <a:ea typeface="Microsoft YaHei"/>
              </a:rPr>
              <a:t xml:space="preserve"> SVM + SHAP </a:t>
            </a:r>
            <a:r>
              <a:rPr lang="zh-CN" sz="1275">
                <a:solidFill>
                  <a:srgbClr val="DCE6F5"/>
                </a:solidFill>
                <a:latin typeface="Microsoft YaHei"/>
                <a:ea typeface="Microsoft YaHei"/>
              </a:rPr>
              <a:t>为主线；方法学对比素材同步整理为综述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2026-10-14T00:09:16Z</dcterms:created>
  <dcterms:modified xsi:type="dcterms:W3CDTF">2026-10-14T00:09:16Z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{"AIGC":{"Label":"1","ContentProducer":"00119111010856365494821B355","ProduceID":"d08d473500274ad99c02c4c6ecfc5e49","ReservedCode1":"","ContentPropagator":"00119111010856365494821B355","PropagateID":"d08d473500274ad99c02c4c6ecfc5e49","ReservedCode2":""}}</vt:lpwstr>
  </property>
</Properties>
</file>