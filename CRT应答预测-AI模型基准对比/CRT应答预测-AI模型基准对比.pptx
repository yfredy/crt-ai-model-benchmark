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7" Type="http://schemas.openxmlformats.org/officeDocument/2006/relationships/presProps" Target="presProps.xml" /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15" Type="http://schemas.openxmlformats.org/officeDocument/2006/relationships/slide" Target="slides/slide15.xml" /><Relationship Id="rId16" Type="http://schemas.openxmlformats.org/officeDocument/2006/relationships/notesMaster" Target="notesMasters/notesMaster1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9" Type="http://schemas.openxmlformats.org/officeDocument/2006/relationships/slide" Target="slides/slide9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.pn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pn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pn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 descr="&lt;Slide style={{ width: 1280, height: 720, background: '#FFFFFF', flexDirection: 'row', fontFamily: '&quot;Microsoft YaHei&quot;,&quot;Source Han Sans SC&quot;,&quot;Noto Sans SC&quot;,sans-serif' }}&gt;&#10;  &lt;Box style={{ width: 700, height: 720, background: '#0E3F8C', paddingLeft: 56, paddingRight: 56, paddingTop: 70, paddingBottom: 70, justifyContent: 'center' }}&gt;&#10;    &lt;Text style={{ fontSize: 15, color: 'rgba(255,255,255,0.65)', letterSpacing: 3 }}&gt;AI MODEL BENCHMARK FOR CRT RESPONSE&lt;/Text&gt;&#10;    &lt;Text style={{ fontSize: 50, fontWeight: 'bold', color: '#FFFFFF', lineHeight: 1.3, marginTop: 22 }}&gt;&#10;      CRT 应答预测：&lt;br /&gt;哪种建模方案最适配？&#10;    &lt;/Text&gt;&#10;    &lt;Box style={{ width: 64, height: 4, background: '#FFC107', marginTop: 26 }} /&gt;&#10;    &lt;Text style={{ fontSize: 19, color: '#DCE6F5', marginTop: 24, lineHeight: 1.6 }}&gt;&#10;      37 种建模方案 · 六大方法族 · 三段式评测&lt;br /&gt;广筛 → 嵌套调参 → 四种重采样交叉验证，全程无数据泄漏&#10;    &lt;/Text&gt;&#10;    &lt;Box style={{ height: 1, background: 'rgba(255,255,255,0.25)', marginTop: 40, marginBottom: 18 }} /&gt;&#10;    &lt;Text style={{ fontSize: 15, color: 'rgba(255,255,255,0.85)' }}&gt;南京医科大学第一附属医院 · 心律失常团队&lt;/Text&gt;&#10;    &lt;Text style={{ fontSize: 14, color: 'rgba(255,255,255,0.55)', marginTop: 8 }}&gt;汇报人：于老师　|　2026 年 10 月&lt;/Text&gt;&#10;  &lt;/Box&gt;&#10;  &lt;Box style={{ flex: 1, height: 720, background: '#F7F9FC', alignItems: 'center', justifyContent: 'center', padding: 28 }}&gt;&#10;    &lt;Box style={{ width: 480, background: '#FFFFFF', borderRadius: 12, padding: 16, boxShadow: '0 10px 30px rgba(14,63,140,0.14)' }}&gt;&#10;      &lt;Image src=&quot;assets/family_boxplot.png&quot; style={{ width: 448, height: 478, objectFit: 'contain' }} /&gt;&#10;      &lt;Text style={{ fontSize: 13, color: '#8B97A8', textAlign: 'center', marginTop: 8 }}&gt;真实运行产物：37 个模型的折外 AUC 分布（按方法族着色）&lt;/Text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66675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533400" y="1409700"/>
            <a:ext cx="5600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FFFFFF">
                    <a:alpha val="65000"/>
                  </a:srgbClr>
                </a:solidFill>
                <a:latin typeface="Microsoft YaHei"/>
                <a:ea typeface="Microsoft YaHei"/>
              </a:rPr>
              <a:t>AI MODEL BENCHMARK FOR CRT RESPONSE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533400" y="1790700"/>
            <a:ext cx="5600700" cy="14859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37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CRT </a:t>
            </a:r>
            <a:r>
              <a:rPr lang="zh-CN" sz="3750" b="1">
                <a:solidFill>
                  <a:srgbClr val="FFFFFF"/>
                </a:solidFill>
                <a:latin typeface="Microsoft YaHei"/>
                <a:ea typeface="Microsoft YaHei"/>
              </a:rPr>
              <a:t>应答预测：</a:t>
            </a:r>
            <a:endParaRPr/>
          </a:p>
          <a:p>
            <a:pPr>
              <a:lnSpc>
                <a:spcPct val="130000"/>
              </a:lnSpc>
            </a:pPr>
            <a:r>
              <a:rPr lang="zh-CN" sz="3750" b="1">
                <a:solidFill>
                  <a:srgbClr val="FFFFFF"/>
                </a:solidFill>
                <a:latin typeface="Microsoft YaHei"/>
                <a:ea typeface="Microsoft YaHei"/>
              </a:rPr>
              <a:t>哪种建模方案最适配？</a:t>
            </a:r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533400" y="3524250"/>
            <a:ext cx="6096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533400" y="3790950"/>
            <a:ext cx="5600700" cy="695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425">
                <a:solidFill>
                  <a:srgbClr val="DCE6F5"/>
                </a:solidFill>
                <a:latin typeface="Microsoft YaHei"/>
                <a:ea typeface="Microsoft YaHei"/>
              </a:rPr>
              <a:t xml:space="preserve">37 </a:t>
            </a:r>
            <a:r>
              <a:rPr lang="zh-CN" sz="1425">
                <a:solidFill>
                  <a:srgbClr val="DCE6F5"/>
                </a:solidFill>
                <a:latin typeface="Microsoft YaHei"/>
                <a:ea typeface="Microsoft YaHei"/>
              </a:rPr>
              <a:t>种建模方案</a:t>
            </a:r>
            <a:r>
              <a:rPr lang="en-US" sz="1425">
                <a:solidFill>
                  <a:srgbClr val="DCE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425">
                <a:solidFill>
                  <a:srgbClr val="DCE6F5"/>
                </a:solidFill>
                <a:latin typeface="Microsoft YaHei"/>
                <a:ea typeface="Microsoft YaHei"/>
              </a:rPr>
              <a:t>六大方法族</a:t>
            </a:r>
            <a:r>
              <a:rPr lang="en-US" sz="1425">
                <a:solidFill>
                  <a:srgbClr val="DCE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425">
                <a:solidFill>
                  <a:srgbClr val="DCE6F5"/>
                </a:solidFill>
                <a:latin typeface="Microsoft YaHei"/>
                <a:ea typeface="Microsoft YaHei"/>
              </a:rPr>
              <a:t>三段式评测</a:t>
            </a:r>
            <a:endParaRPr/>
          </a:p>
          <a:p>
            <a:pPr>
              <a:lnSpc>
                <a:spcPct val="160000"/>
              </a:lnSpc>
            </a:pPr>
            <a:r>
              <a:rPr lang="zh-CN" sz="1425">
                <a:solidFill>
                  <a:srgbClr val="DCE6F5"/>
                </a:solidFill>
                <a:latin typeface="Microsoft YaHei"/>
                <a:ea typeface="Microsoft YaHei"/>
              </a:rPr>
              <a:t>广筛</a:t>
            </a:r>
            <a:r>
              <a:rPr lang="en-US" sz="1425">
                <a:solidFill>
                  <a:srgbClr val="DCE6F5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425">
                <a:solidFill>
                  <a:srgbClr val="DCE6F5"/>
                </a:solidFill>
                <a:latin typeface="Microsoft YaHei"/>
                <a:ea typeface="Microsoft YaHei"/>
              </a:rPr>
              <a:t>嵌套调参</a:t>
            </a:r>
            <a:r>
              <a:rPr lang="en-US" sz="1425">
                <a:solidFill>
                  <a:srgbClr val="DCE6F5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425">
                <a:solidFill>
                  <a:srgbClr val="DCE6F5"/>
                </a:solidFill>
                <a:latin typeface="Microsoft YaHei"/>
                <a:ea typeface="Microsoft YaHei"/>
              </a:rPr>
              <a:t>四种重采样交叉验证，全程无数据泄漏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533400" y="4867275"/>
            <a:ext cx="5600700" cy="95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533400" y="5048250"/>
            <a:ext cx="5600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南京医科大学第一附属医院</a:t>
            </a:r>
            <a:r>
              <a:rPr lang="en-US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心律失常团队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533400" y="5295900"/>
            <a:ext cx="5600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汇报人：于老师　</a:t>
            </a: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|</a:t>
            </a:r>
            <a:r>
              <a:rPr lang="zh-CN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年</a:t>
            </a: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月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6667500" y="0"/>
            <a:ext cx="5524500" cy="6858000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2" name=""/>
          <p:cNvSpPr/>
          <p:nvPr/>
        </p:nvSpPr>
        <p:spPr>
          <a:xfrm rot="0" flipH="0" flipV="0">
            <a:off x="7143750" y="885825"/>
            <a:ext cx="4572000" cy="508635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285750" dist="95250" dir="5400000">
              <a:srgbClr val="0E3F8C">
                <a:alpha val="14000"/>
              </a:srgbClr>
            </a:outerShdw>
          </a:effectLst>
        </p:spPr>
        <p:txBody>
          <a:bodyPr/>
          <a:p/>
        </p:txBody>
      </p:sp>
      <p:pic>
        <p:nvPicPr>
          <p:cNvPr id="13" name=""/>
          <p:cNvPicPr>
            <a:picLocks noChangeAspect="1"/>
          </p:cNvPicPr>
          <p:nvPr/>
        </p:nvPicPr>
        <p:blipFill>
          <a:blip r:embed="rId1"/>
          <a:srcRect l="0" t="68" r="0" b="68"/>
          <a:stretch>
            <a:fillRect/>
          </a:stretch>
        </p:blipFill>
        <p:spPr>
          <a:xfrm rot="0" flipH="0" flipV="0">
            <a:off x="7296150" y="1038225"/>
            <a:ext cx="4267200" cy="4552950"/>
          </a:xfrm>
          <a:prstGeom prst="rect">
            <a:avLst/>
          </a:prstGeom>
          <a:ln/>
        </p:spPr>
      </p:pic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7296150" y="5667375"/>
            <a:ext cx="42672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真实运行产物：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37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个模型的折外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AUC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分布（按方法族着色）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54" name="" descr="&lt;Slide style={{ width: 1280, height: 720, background: '#FFFFFF', flexDirection: 'row', fontFamily: '&quot;Microsoft YaHei&quot;,&quot;Source Han Sans SC&quot;,&quot;Noto Sans SC&quot;,sans-serif' }}&gt;&#10;  &lt;Box style={{ width: 360, height: 720, background: '#0E3F8C', paddingLeft: 44, paddingRight: 44, paddingTop: 80, paddingBottom: 80, justifyContent: 'center' }}&gt;&#10;    &lt;Text style={{ fontSize: 14, color: 'rgba(255,255,255,0.6)', letterSpacing: 4 }}&gt;CONTENTS&lt;/Text&gt;&#10;    &lt;Text style={{ fontSize: 44, fontWeight: 'bold', color: '#FFFFFF', marginTop: 12 }}&gt;目录&lt;/Text&gt;&#10;    &lt;Box style={{ width: 48, height: 4, background: '#FFC107', marginTop: 22 }} /&gt;&#10;    &lt;Text style={{ fontSize: 15, color: '#DCE6F5', lineHeight: 1.8, marginTop: 30 }}&gt;&#10;      三个问题，一条主线：&lt;br /&gt;为什么做 · 怎么比才公平 · 结论有多稳&#10;    &lt;/Text&gt;&#10;  &lt;/Box&gt;&#10;  &lt;Box style={{ flex: 1, height: 720, background: '#FFFFFF', paddingLeft: 60, paddingRight: 60, paddingTop: 70, paddingBottom: 70, justifyContent: 'center' }}&gt;&#10;    &lt;Box style={{ flexDirection: 'row', alignItems: 'center', paddingBottom: 22, borderBottom: '1px solid #E5E7EB' }}&gt;&#10;      &lt;Box style={{ width: 64, height: 64, background: '#1E4FA8', borderRadius: 8, alignItems: 'center', justifyContent: 'center' }}&gt;&#10;        &lt;Text style={{ fontSize: 26, fontWeight: 'bold', color: '#FFFFFF' }}&gt;01&lt;/Text&gt;&#10;      &lt;/Box&gt;&#10;      &lt;Box style={{ marginLeft: 26, flex: 1 }}&gt;&#10;        &lt;Text style={{ fontSize: 28, fontWeight: 'bold', color: '#1A2230' }}&gt;研究动因与数据&lt;/Text&gt;&#10;        &lt;Text style={{ fontSize: 15, color: '#4A5568', marginTop: 6 }}&gt;编辑退修意见 · 163 例 CRT 队列 · 因变量与 28 个候选自变量&lt;/Text&gt;&#10;      &lt;/Box&gt;&#10;    &lt;/Box&gt;&#10;    &lt;Box style={{ flexDirection: 'row', alignItems: 'center', paddingTop: 22, paddingBottom: 22, borderBottom: '1px solid #E5E7EB' }}&gt;&#10;      &lt;Box style={{ width: 64, height: 64, background: '#1E4FA8', borderRadius: 8, alignItems: 'center', justifyContent: 'center' }}&gt;&#10;        &lt;Text style={{ fontSize: 26, fontWeight: 'bold', color: '#FFFFFF' }}&gt;02&lt;/Text&gt;&#10;      &lt;/Box&gt;&#10;      &lt;Box style={{ marginLeft: 26, flex: 1 }}&gt;&#10;        &lt;Text style={{ fontSize: 28, fontWeight: 'bold', color: '#1A2230' }}&gt;评测设计：37 种方案怎么比&lt;/Text&gt;&#10;        &lt;Text style={{ fontSize: 15, color: '#4A5568', marginTop: 6 }}&gt;六大方法族 · 三段式评测（广筛 → 嵌套调参 → 稳健性）· 多重统计检验&lt;/Text&gt;&#10;      &lt;/Box&gt;&#10;    &lt;/Box&gt;&#10;    &lt;Box style={{ flexDirection: 'row', alignItems: 'center', paddingTop: 22 }}&gt;&#10;      &lt;Box style={{ width: 64, height: 64, background: '#1E4FA8', borderRadius: 8, alignItems: 'center', justifyContent: 'center' }}&gt;&#10;        &lt;Text style={{ fontSize: 26, fontWeight: 'bold', color: '#FFFFFF' }}&gt;03&lt;/Text&gt;&#10;      &lt;/Box&gt;&#10;      &lt;Box style={{ marginLeft: 26, flex: 1 }}&gt;&#10;        &lt;Text style={{ fontSize: 28, fontWeight: 'bold', color: '#1A2230' }}&gt;结果与发现&lt;/Text&gt;&#10;        &lt;Text style={{ fontSize: 15, color: '#4A5568', marginTop: 6 }}&gt;37 模型总榜 · 家族对比 · 显著性与稳健性 · SHAP 可解释性&lt;/Text&gt;&#10;      &lt;/Box&gt;&#10;    &lt;/Box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6" name=""/>
          <p:cNvSpPr/>
          <p:nvPr/>
        </p:nvSpPr>
        <p:spPr>
          <a:xfrm rot="0" flipH="0" flipV="0">
            <a:off x="0" y="0"/>
            <a:ext cx="3429000" cy="6858000"/>
          </a:xfrm>
          <a:prstGeom prst="rect">
            <a:avLst/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419100" y="24669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FFFFFF">
                    <a:alpha val="60000"/>
                  </a:srgbClr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419100" y="2743200"/>
            <a:ext cx="2590800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419100" y="3457575"/>
            <a:ext cx="457200" cy="3810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419100" y="3781425"/>
            <a:ext cx="2590800" cy="6191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DCE6F5"/>
                </a:solidFill>
                <a:latin typeface="Microsoft YaHei"/>
                <a:ea typeface="Microsoft YaHei"/>
              </a:rPr>
              <a:t>三个问题，一条主线：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DCE6F5"/>
                </a:solidFill>
                <a:latin typeface="Microsoft YaHei"/>
                <a:ea typeface="Microsoft YaHei"/>
              </a:rPr>
              <a:t>为什么做</a:t>
            </a:r>
            <a:r>
              <a:rPr lang="en-US" sz="1125">
                <a:solidFill>
                  <a:srgbClr val="DCE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DCE6F5"/>
                </a:solidFill>
                <a:latin typeface="Microsoft YaHei"/>
                <a:ea typeface="Microsoft YaHei"/>
              </a:rPr>
              <a:t>怎么比才公平</a:t>
            </a:r>
            <a:r>
              <a:rPr lang="en-US" sz="1125">
                <a:solidFill>
                  <a:srgbClr val="DCE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DCE6F5"/>
                </a:solidFill>
                <a:latin typeface="Microsoft YaHei"/>
                <a:ea typeface="Microsoft YaHei"/>
              </a:rPr>
              <a:t>结论有多稳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3429000" y="0"/>
            <a:ext cx="8763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2" name=""/>
          <p:cNvSpPr/>
          <p:nvPr/>
        </p:nvSpPr>
        <p:spPr>
          <a:xfrm rot="0" flipH="0" flipV="0">
            <a:off x="4000500" y="2085975"/>
            <a:ext cx="7620000" cy="838200"/>
          </a:xfrm>
          <a:custGeom>
            <a:pathLst>
              <a:path w="800" h="88">
                <a:moveTo>
                  <a:pt x="0" y="87"/>
                </a:moveTo>
                <a:lnTo>
                  <a:pt x="800" y="87"/>
                </a:lnTo>
                <a:lnTo>
                  <a:pt x="800" y="88"/>
                </a:lnTo>
                <a:lnTo>
                  <a:pt x="0" y="88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63" name=""/>
          <p:cNvSpPr/>
          <p:nvPr/>
        </p:nvSpPr>
        <p:spPr>
          <a:xfrm rot="0" flipH="0" flipV="0">
            <a:off x="4000500" y="2085975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4152900" y="2238375"/>
            <a:ext cx="314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4857750" y="2114550"/>
            <a:ext cx="67627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研究动因与数据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4857750" y="2495550"/>
            <a:ext cx="6762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编辑退修意见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163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例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CRT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队列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因变量与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28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个候选自变量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4000500" y="2914650"/>
            <a:ext cx="7620000" cy="1047750"/>
          </a:xfrm>
          <a:custGeom>
            <a:pathLst>
              <a:path w="800" h="110">
                <a:moveTo>
                  <a:pt x="0" y="109"/>
                </a:moveTo>
                <a:lnTo>
                  <a:pt x="800" y="109"/>
                </a:lnTo>
                <a:lnTo>
                  <a:pt x="800" y="110"/>
                </a:lnTo>
                <a:lnTo>
                  <a:pt x="0" y="110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68" name=""/>
          <p:cNvSpPr/>
          <p:nvPr/>
        </p:nvSpPr>
        <p:spPr>
          <a:xfrm rot="0" flipH="0" flipV="0">
            <a:off x="4000500" y="3124200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4152900" y="3276600"/>
            <a:ext cx="314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4857750" y="3152775"/>
            <a:ext cx="67627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评测设计：</a:t>
            </a:r>
            <a:r>
              <a:rPr lang="en-US" sz="2100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37 </a:t>
            </a: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种方案怎么比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4857750" y="3533775"/>
            <a:ext cx="6762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六大方法族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三段式评测（广筛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嵌套调参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稳健性）·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多重统计检验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4000500" y="4162425"/>
            <a:ext cx="609600" cy="609600"/>
          </a:xfrm>
          <a:prstGeom prst="roundRect">
            <a:avLst>
              <a:gd name="adj" fmla="val 125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4152900" y="4314825"/>
            <a:ext cx="3143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4857750" y="4191000"/>
            <a:ext cx="676275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A2230"/>
                </a:solidFill>
                <a:latin typeface="Microsoft YaHei"/>
                <a:ea typeface="Microsoft YaHei"/>
              </a:rPr>
              <a:t>结果与发现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4857750" y="4572000"/>
            <a:ext cx="6762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37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模型总榜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家族对比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显著性与稳健性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SHAP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可解释性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76" name="" descr="&lt;Slide style={{ width: 1280, height: 720, background: '#FFFFFF', paddingLeft: 80, paddingRight: 80, justifyContent: 'center', fontFamily: '&quot;Microsoft YaHei&quot;,&quot;Source Han Sans SC&quot;,&quot;Noto Sans SC&quot;,sans-serif' }}&gt;&#10;  &lt;Box style={{ flexDirection: 'row', alignItems: 'center' }}&gt;&#10;    &lt;Text style={{ fontSize: 190, fontWeight: 'bold', color: '#E8EFF8', lineHeight: 1 }}&gt;01&lt;/Text&gt;&#10;    &lt;Box style={{ marginLeft: 40, flex: 1 }}&gt;&#10;      &lt;Text style={{ fontSize: 15, color: '#3D7BD9', letterSpacing: 4 }}&gt;SECTION 01&lt;/Text&gt;&#10;      &lt;Text style={{ fontSize: 42, fontWeight: 'bold', color: '#0E3F8C', marginTop: 10 }}&gt;研究动因与数据&lt;/Text&gt;&#10;      &lt;Box style={{ width: 72, height: 5, background: '#1E4FA8', marginTop: 18 }} /&gt;&#10;    &lt;/Box&gt;&#10;  &lt;/Box&gt;&#10;  &lt;Box style={{ marginTop: 56, gap: 18 }}&gt;&#10;    &lt;Box style={{ flexDirection: 'row', alignItems: 'center', background: '#F0F5FC', borderRadius: 8, paddingLeft: 24, paddingRight: 24, paddingTop: 16, paddingBottom: 16 }}&gt;&#10;      &lt;Box style={{ width: 10, height: 10, borderRadius: 5, background: '#1E4FA8' }} /&gt;&#10;      &lt;Text style={{ fontSize: 20, color: '#1A2230', marginLeft: 18 }}&gt;编辑退修意见：稿件缺少 AI 算法、深度学习等内容&lt;/Text&gt;&#10;    &lt;/Box&gt;&#10;    &lt;Box style={{ flexDirection: 'row', alignItems: 'center', background: '#F0F5FC', borderRadius: 8, paddingLeft: 24, paddingRight: 24, paddingTop: 16, paddingBottom: 16 }}&gt;&#10;      &lt;Box style={{ width: 10, height: 10, borderRadius: 5, background: '#1E4FA8' }} /&gt;&#10;      &lt;Text style={{ fontSize: 20, color: '#1A2230', marginLeft: 18 }}&gt;沿用同一套 163 例数据，与已发表 LASSO 结果直接可比&lt;/Text&gt;&#10;    &lt;/Box&gt;&#10;    &lt;Box style={{ flexDirection: 'row', alignItems: 'center', background: '#F0F5FC', borderRadius: 8, paddingLeft: 24, paddingRight: 24, paddingTop: 16, paddingBottom: 16 }}&gt;&#10;      &lt;Box style={{ width: 10, height: 10, borderRadius: 5, background: '#1E4FA8' }} /&gt;&#10;      &lt;Text style={{ fontSize: 20, color: '#1A2230', marginLeft: 18 }}&gt;建模任务明确：response 为因变量，其余 28 列为候选自变量&lt;/Text&gt;&#10;    &lt;/Box&gt;&#10;  &lt;/Box&gt;&#10;  &lt;Box style={{ position: 'absolute', bottom: 0, left: 0, right: 0, height: 8, background: '#1E4FA8'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762000" y="1104900"/>
            <a:ext cx="2238375" cy="2171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0" b="1">
                <a:solidFill>
                  <a:srgbClr val="E8EFF8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3381375" y="1704975"/>
            <a:ext cx="804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D7BD9"/>
                </a:solidFill>
                <a:latin typeface="Microsoft YaHei"/>
                <a:ea typeface="Microsoft YaHei"/>
              </a:rPr>
              <a:t>SECTION 01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3381375" y="1971675"/>
            <a:ext cx="8048625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150" b="1">
                <a:solidFill>
                  <a:srgbClr val="0E3F8C"/>
                </a:solidFill>
                <a:latin typeface="Microsoft YaHei"/>
                <a:ea typeface="Microsoft YaHei"/>
              </a:rPr>
              <a:t>研究动因与数据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3381375" y="2628900"/>
            <a:ext cx="6858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2" name=""/>
          <p:cNvSpPr/>
          <p:nvPr/>
        </p:nvSpPr>
        <p:spPr>
          <a:xfrm rot="0" flipH="0" flipV="0">
            <a:off x="762000" y="3810000"/>
            <a:ext cx="10668000" cy="533400"/>
          </a:xfrm>
          <a:prstGeom prst="roundRect">
            <a:avLst>
              <a:gd name="adj" fmla="val 1428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83" name=""/>
          <p:cNvSpPr/>
          <p:nvPr/>
        </p:nvSpPr>
        <p:spPr>
          <a:xfrm rot="0" flipH="0" flipV="0">
            <a:off x="990600" y="40290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257300" y="3962400"/>
            <a:ext cx="4305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编辑退修意见：稿件缺少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算法、深度学习等内容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762000" y="4514850"/>
            <a:ext cx="10668000" cy="533400"/>
          </a:xfrm>
          <a:prstGeom prst="roundRect">
            <a:avLst>
              <a:gd name="adj" fmla="val 1428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86" name=""/>
          <p:cNvSpPr/>
          <p:nvPr/>
        </p:nvSpPr>
        <p:spPr>
          <a:xfrm rot="0" flipH="0" flipV="0">
            <a:off x="990600" y="47339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257300" y="4667250"/>
            <a:ext cx="48006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沿用同一套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163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例数据，与已发表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LASSO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结果直接可比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762000" y="5219700"/>
            <a:ext cx="10668000" cy="533400"/>
          </a:xfrm>
          <a:prstGeom prst="roundRect">
            <a:avLst>
              <a:gd name="adj" fmla="val 1428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89" name=""/>
          <p:cNvSpPr/>
          <p:nvPr/>
        </p:nvSpPr>
        <p:spPr>
          <a:xfrm rot="0" flipH="0" flipV="0">
            <a:off x="990600" y="54387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1257300" y="5372100"/>
            <a:ext cx="5219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建模任务明确：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response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为因变量，其余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28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列为候选自变量</a:t>
            </a:r>
            <a:endParaRPr/>
          </a:p>
        </p:txBody>
      </p:sp>
      <p:sp>
        <p:nvSpPr>
          <p:cNvPr id="191" name=""/>
          <p:cNvSpPr/>
          <p:nvPr/>
        </p:nvSpPr>
        <p:spPr>
          <a:xfrm rot="0" flipH="0" flipV="0">
            <a:off x="0" y="678180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92" name="" descr="&lt;Slide style={{ width: 1280, height: 720, background: '#FFFFFF', flexDirection: 'column', fontFamily: '&quot;Microsoft YaHei&quot;,&quot;Source Han Sans SC&quot;,&quot;Noto Sans SC&quot;,sans-serif' }}&gt;&#10;  &lt;Box style={{ height: 80, background: '#1E4FA8', flexDirection: 'row', alignItems: 'center', justifyContent: 'space-between', paddingLeft: 40, paddingRight: 40 }}&gt;&#10;    &lt;Text style={{ fontSize: 26, fontWeight: 'bold', color: '#FFFFFF' }}&gt;编辑的退修意见&lt;/Text&gt;&#10;    &lt;Text style={{ fontSize: 14, color: 'rgba(255,255,255,0.75)' }}&gt;CRT 应答预测 · AI 模型基准对比&lt;/Text&gt;&#10;  &lt;/Box&gt;&#10;  &lt;Box style={{ flex: 1, paddingLeft: 40, paddingRight: 40, paddingTop: 20, paddingBottom: 20, background: '#FFFFFF' }}&gt;&#10;    &lt;Box style={{ flexDirection: 'row', gap: 24, height: 440 }}&gt;&#10;      &lt;Box style={{ width: 700, background: '#0E3F8C', borderRadius: 12, padding: 36, justifyContent: 'space-between' }}&gt;&#10;        &lt;Box&gt;&#10;          &lt;Text style={{ fontSize: 60, fontWeight: 'bold', color: 'rgba(255,255,255,0.35)', lineHeight: 1 }}&gt;“&lt;/Text&gt;&#10;          &lt;Text style={{ fontSize: 20, color: '#FFFFFF', lineHeight: 1.85, marginTop: 8 }}&gt;&#10;            于老师，我看了，这个稿件&lt;span style={{ fontWeight: 'bold', color: '#FFC107' }}&gt;没有涉及 AI 算法、深度学习、影像智能重建或分析、大数据挖掘&lt;/span&gt;这些 ITM 明确列出的方向。它更像是一篇传统的影像生物标志物研究，偏临床预测模型，而不是智能转化医学的范畴，您看看能不能增加这方面的内容。&#10;          &lt;/Text&gt;&#10;        &lt;/Box&gt;&#10;        &lt;Text style={{ fontSize: 15, color: 'rgba(255,255,255,0.7)', textAlign: 'right' }}&gt;—— ITM 编辑退修意见（2026 年 10 月）&lt;/Text&gt;&#10;      &lt;/Box&gt;&#10;      &lt;Box style={{ flex: 1, justifyContent: 'space-between' }}&gt;&#10;        &lt;Box style={{ background: '#F0F5FC', border: '1px solid #D6DCE5', borderRadius: 10, padding: 20, height: 136 }}&gt;&#10;          &lt;Box style={{ flexDirection: 'row', alignItems: 'center' }}&gt;&#10;            &lt;Box style={{ paddingLeft: 12, paddingRight: 12, paddingTop: 4, paddingBottom: 4, background: '#1E4FA8', borderRadius: 10 }}&gt;&#10;              &lt;Text style={{ fontSize: 12, color: '#FFFFFF' }}&gt;判断 1&lt;/Text&gt;&#10;            &lt;/Box&gt;&#10;            &lt;Text style={{ fontSize: 21, fontWeight: 'bold', color: '#1A2230', marginLeft: 12 }}&gt;这是方向性要求&lt;/Text&gt;&#10;          &lt;/Box&gt;&#10;          &lt;Text style={{ fontSize: 15, color: '#4A5568', lineHeight: 1.6, marginTop: 10 }}&gt;不是文字润色，而是必须真正补上 AI 建模内容，否则无法进入 ITM 的收稿范围。&lt;/Text&gt;&#10;        &lt;/Box&gt;&#10;        &lt;Box style={{ background: '#F0F5FC', border: '1px solid #D6DCE5', borderRadius: 10, padding: 20, height: 136 }}&gt;&#10;          &lt;Box style={{ flexDirection: 'row', alignItems: 'center' }}&gt;&#10;            &lt;Box style={{ paddingLeft: 12, paddingRight: 12, paddingTop: 4, paddingBottom: 4, background: '#1E4FA8', borderRadius: 10 }}&gt;&#10;              &lt;Text style={{ fontSize: 12, color: '#FFFFFF' }}&gt;判断 2&lt;/Text&gt;&#10;            &lt;/Box&gt;&#10;            &lt;Text style={{ fontSize: 21, fontWeight: 'bold', color: '#1A2230', marginLeft: 12 }}&gt;同一套数据才可比&lt;/Text&gt;&#10;          &lt;/Box&gt;&#10;          &lt;Text style={{ fontSize: 15, color: '#4A5568', lineHeight: 1.6, marginTop: 10 }}&gt;沿用已发表 LASSO 研究的 163 例队列与同一组变量，新旧结果才有可比性。&lt;/Text&gt;&#10;        &lt;/Box&gt;&#10;        &lt;Box style={{ background: '#F0F5FC', border: '1px solid #D6DCE5', borderRadius: 10, padding: 20, height: 136 }}&gt;&#10;          &lt;Box style={{ flexDirection: 'row', alignItems: 'center' }}&gt;&#10;            &lt;Box style={{ paddingLeft: 12, paddingRight: 12, paddingTop: 4, paddingBottom: 4, background: '#1E4FA8', borderRadius: 10 }}&gt;&#10;              &lt;Text style={{ fontSize: 12, color: '#FFFFFF' }}&gt;判断 3&lt;/Text&gt;&#10;            &lt;/Box&gt;&#10;            &lt;Text style={{ fontSize: 21, fontWeight: 'bold', color: '#1A2230', marginLeft: 12 }}&gt;一次投入，两篇产出&lt;/Text&gt;&#10;          &lt;/Box&gt;&#10;          &lt;Text style={{ fontSize: 15, color: '#4A5568', lineHeight: 1.6, marginTop: 10 }}&gt;基准对比支撑新 article，方法学梳理同时喂给综述。&lt;/Text&gt;&#10;        &lt;/Box&gt;&#10;      &lt;/Box&gt;&#10;    &lt;/Box&gt;&#10;    &lt;Box style={{ marginTop: 24, height: 56, background: '#1E4FA8', borderRadius: 8, flexDirection: 'row', alignItems: 'center', paddingLeft: 24, paddingRight: 24 }}&gt;&#10;      &lt;Text style={{ fontSize: 19, fontWeight: 'bold', color: '#FFFFFF' }}&gt;本页落点：要做的不是&quot;再加一段 AI&quot;，而是回答——这批数据到底适配哪一种 AI 模型？&lt;/Text&gt;&#10;    &lt;/Box&gt;&#10;  &lt;/Box&gt;&#10;  &lt;Box style={{ height: 40, flexDirection: 'row', alignItems: 'center', justifyContent: 'space-between', paddingLeft: 40, paddingRight: 40, borderTop: '1px solid #E5E7EB', background: '#F7F9FC' }}&gt;&#10;    &lt;Text style={{ fontSize: 13, color: '#8B97A8' }}&gt;南京医科大学第一附属医院 · 心律失常团队&lt;/Text&gt;&#10;    &lt;Text style={{ fontSize: 14, fontWeight: 'bold', color: '#1E4FA8' }}&gt;04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4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17335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编辑的退修意见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9896475" y="304800"/>
            <a:ext cx="1914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CRT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应答预测</a:t>
            </a:r>
            <a:r>
              <a:rPr lang="en-US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· AI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模型基准对比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0" y="762000"/>
            <a:ext cx="12192000" cy="5715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8" name=""/>
          <p:cNvSpPr/>
          <p:nvPr/>
        </p:nvSpPr>
        <p:spPr>
          <a:xfrm rot="0" flipH="0" flipV="0">
            <a:off x="381000" y="952500"/>
            <a:ext cx="6667500" cy="4191000"/>
          </a:xfrm>
          <a:prstGeom prst="roundRect">
            <a:avLst>
              <a:gd name="adj" fmla="val 2727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723900" y="1295400"/>
            <a:ext cx="59817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4500" b="1">
                <a:solidFill>
                  <a:srgbClr val="FFFFFF">
                    <a:alpha val="35000"/>
                  </a:srgbClr>
                </a:solidFill>
                <a:latin typeface="Microsoft YaHei"/>
                <a:ea typeface="Microsoft YaHei"/>
              </a:rPr>
              <a:t>“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723900" y="2057400"/>
            <a:ext cx="5981700" cy="1695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于老师，我看了，这个稿件</a:t>
            </a:r>
            <a:r>
              <a:rPr lang="zh-CN" sz="1500" b="1">
                <a:solidFill>
                  <a:srgbClr val="FFC107"/>
                </a:solidFill>
                <a:latin typeface="Microsoft YaHei"/>
                <a:ea typeface="Microsoft YaHei"/>
              </a:rPr>
              <a:t>没有涉及</a:t>
            </a:r>
            <a:r>
              <a:rPr lang="en-US" sz="1500" b="1">
                <a:solidFill>
                  <a:srgbClr val="FFC107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500" b="1">
                <a:solidFill>
                  <a:srgbClr val="FFC107"/>
                </a:solidFill>
                <a:latin typeface="Microsoft YaHei"/>
                <a:ea typeface="Microsoft YaHei"/>
              </a:rPr>
              <a:t>算法、深度学习、影像智能重建或分析、大数据挖掘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这些</a:t>
            </a:r>
            <a:r>
              <a:rPr lang="en-US" sz="1500">
                <a:solidFill>
                  <a:srgbClr val="FFFFFF"/>
                </a:solidFill>
                <a:latin typeface="Microsoft YaHei"/>
                <a:ea typeface="Microsoft YaHei"/>
              </a:rPr>
              <a:t xml:space="preserve"> ITM </a:t>
            </a:r>
            <a:r>
              <a:rPr lang="zh-CN" sz="1500">
                <a:solidFill>
                  <a:srgbClr val="FFFFFF"/>
                </a:solidFill>
                <a:latin typeface="Microsoft YaHei"/>
                <a:ea typeface="Microsoft YaHei"/>
              </a:rPr>
              <a:t>明确列出的方向。它更像是一篇传统的影像生物标志物研究，偏临床预测模型，而不是智能转化医学的范畴，您看看能不能增加这方面的内容。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723900" y="4629150"/>
            <a:ext cx="5981700" cy="1714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 xml:space="preserve">—— ITM </a:t>
            </a:r>
            <a:r>
              <a:rPr lang="zh-CN" sz="112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编辑退修意见（</a:t>
            </a:r>
            <a:r>
              <a:rPr lang="en-US" sz="112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 xml:space="preserve">2026 </a:t>
            </a:r>
            <a:r>
              <a:rPr lang="zh-CN" sz="112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年</a:t>
            </a:r>
            <a:r>
              <a:rPr lang="en-US" sz="112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 xml:space="preserve"> 10 </a:t>
            </a:r>
            <a:r>
              <a:rPr lang="zh-CN" sz="1125">
                <a:solidFill>
                  <a:srgbClr val="FFFFFF">
                    <a:alpha val="70000"/>
                  </a:srgbClr>
                </a:solidFill>
                <a:latin typeface="Microsoft YaHei"/>
                <a:ea typeface="Microsoft YaHei"/>
              </a:rPr>
              <a:t>月）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7277100" y="952500"/>
            <a:ext cx="4533900" cy="1295400"/>
          </a:xfrm>
          <a:prstGeom prst="roundRect">
            <a:avLst>
              <a:gd name="adj" fmla="val 7353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03" name=""/>
          <p:cNvSpPr/>
          <p:nvPr/>
        </p:nvSpPr>
        <p:spPr>
          <a:xfrm rot="0" flipH="0" flipV="0">
            <a:off x="7467600" y="1162050"/>
            <a:ext cx="561975" cy="219075"/>
          </a:xfrm>
          <a:prstGeom prst="roundRect">
            <a:avLst>
              <a:gd name="adj" fmla="val 43478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7581900" y="1200150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判断</a:t>
            </a:r>
            <a:r>
              <a:rPr lang="en-US" sz="900">
                <a:solidFill>
                  <a:srgbClr val="FFFFFF"/>
                </a:solidFill>
                <a:latin typeface="Microsoft YaHei"/>
                <a:ea typeface="Microsoft YaHei"/>
              </a:rPr>
              <a:t xml:space="preserve"> 1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8143875" y="1143000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这是方向性要求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7467600" y="1485900"/>
            <a:ext cx="4152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不是文字润色，而是必须真正补上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建模内容，否则无法进入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ITM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的收稿范围。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7277100" y="2400300"/>
            <a:ext cx="4533900" cy="1295400"/>
          </a:xfrm>
          <a:prstGeom prst="roundRect">
            <a:avLst>
              <a:gd name="adj" fmla="val 7353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08" name=""/>
          <p:cNvSpPr/>
          <p:nvPr/>
        </p:nvSpPr>
        <p:spPr>
          <a:xfrm rot="0" flipH="0" flipV="0">
            <a:off x="7467600" y="2609850"/>
            <a:ext cx="561975" cy="219075"/>
          </a:xfrm>
          <a:prstGeom prst="roundRect">
            <a:avLst>
              <a:gd name="adj" fmla="val 43478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7581900" y="2647950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判断</a:t>
            </a:r>
            <a:r>
              <a:rPr lang="en-US" sz="900">
                <a:solidFill>
                  <a:srgbClr val="FFFFFF"/>
                </a:solidFill>
                <a:latin typeface="Microsoft YaHei"/>
                <a:ea typeface="Microsoft YaHei"/>
              </a:rPr>
              <a:t xml:space="preserve"> 2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8143875" y="2590800"/>
            <a:ext cx="1600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同一套数据才可比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7467600" y="2933700"/>
            <a:ext cx="41529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沿用已发表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LASSO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研究的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163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例队列与同一组变量，新旧结果才有可比性。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7277100" y="3848100"/>
            <a:ext cx="4533900" cy="1295400"/>
          </a:xfrm>
          <a:prstGeom prst="roundRect">
            <a:avLst>
              <a:gd name="adj" fmla="val 7353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13" name=""/>
          <p:cNvSpPr/>
          <p:nvPr/>
        </p:nvSpPr>
        <p:spPr>
          <a:xfrm rot="0" flipH="0" flipV="0">
            <a:off x="7467600" y="4057650"/>
            <a:ext cx="561975" cy="219075"/>
          </a:xfrm>
          <a:prstGeom prst="roundRect">
            <a:avLst>
              <a:gd name="adj" fmla="val 43478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581900" y="4095750"/>
            <a:ext cx="333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判断</a:t>
            </a:r>
            <a:r>
              <a:rPr lang="en-US" sz="900">
                <a:solidFill>
                  <a:srgbClr val="FFFFFF"/>
                </a:solidFill>
                <a:latin typeface="Microsoft YaHei"/>
                <a:ea typeface="Microsoft YaHei"/>
              </a:rPr>
              <a:t xml:space="preserve"> 3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8143875" y="4038600"/>
            <a:ext cx="18002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一次投入，两篇产出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7467600" y="4381500"/>
            <a:ext cx="41529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基准对比支撑新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article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，方法学梳理同时喂给综述。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381000" y="5372100"/>
            <a:ext cx="11430000" cy="533400"/>
          </a:xfrm>
          <a:prstGeom prst="roundRect">
            <a:avLst>
              <a:gd name="adj" fmla="val 14286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09600" y="5534025"/>
            <a:ext cx="71151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本页落点：要做的不是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"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再加一段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AI"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，而是回答——这批数据到底适配哪一种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模型？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0" y="6486525"/>
            <a:ext cx="12192000" cy="3714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20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381000" y="660082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南京医科大学第一附属医院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心律失常团队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11334750" y="65913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04 / 15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23" name="" descr="&lt;Slide style={{ width: 1280, height: 720, background: '#FFFFFF', flexDirection: 'column', fontFamily: '&quot;Microsoft YaHei&quot;,&quot;Source Han Sans SC&quot;,&quot;Noto Sans SC&quot;,sans-serif' }}&gt;&#10;  &lt;Box style={{ height: 80, background: '#1E4FA8', flexDirection: 'row', alignItems: 'center', justifyContent: 'space-between', paddingLeft: 40, paddingRight: 40 }}&gt;&#10;    &lt;Text style={{ fontSize: 26, fontWeight: 'bold', color: '#FFFFFF' }}&gt;数据与建模任务&lt;/Text&gt;&#10;    &lt;Text style={{ fontSize: 14, color: 'rgba(255,255,255,0.75)' }}&gt;CRT 应答预测 · AI 模型基准对比&lt;/Text&gt;&#10;  &lt;/Box&gt;&#10;  &lt;Box style={{ flex: 1, paddingLeft: 40, paddingRight: 40, paddingTop: 20, paddingBottom: 20, background: '#FFFFFF', flexDirection: 'row', gap: 28 }}&gt;&#10;    &lt;Box style={{ width: 330, justifyContent: 'center' }}&gt;&#10;      &lt;Box style={{ width: 56, height: 5, background: '#1E4FA8' }} /&gt;&#10;      &lt;Text style={{ fontSize: 32, fontWeight: 'bold', color: '#0E3F8C', marginTop: 16, lineHeight: 1.4 }}&gt;一份队列，&lt;br /&gt;一个明确的&lt;br /&gt;预测任务&lt;/Text&gt;&#10;      &lt;Text style={{ fontSize: 16, color: '#4A5568', lineHeight: 1.75, marginTop: 22 }}&gt;&#10;        数据来自南京医科大学第一附属医院 2010–2020 年药物难治性心衰 CRT 患者，与已发表论文（Jiang et al., QIMS 2025）完全同源。&#10;      &lt;/Text&gt;&#10;      &lt;Text style={{ fontSize: 16, color: '#4A5568', lineHeight: 1.75, marginTop: 14 }}&gt;&#10;        全部变量均为数值型，无需复杂特征工程即可直接进入统一对比框架。&#10;      &lt;/Text&gt;&#10;    &lt;/Box&gt;&#10;    &lt;Box style={{ flex: 1 }}&gt;&#10;      &lt;Box style={{ flexDirection: 'row', gap: 16 }}&gt;&#10;        &lt;Box style={{ flex: 1, background: '#F0F5FC', borderRadius: 10, padding: 18, alignItems: 'center' }}&gt;&#10;          &lt;Text style={{ fontSize: 46, fontWeight: 'bold', color: '#1E4FA8', lineHeight: 1.1 }}&gt;163&lt;/Text&gt;&#10;          &lt;Text style={{ fontSize: 15, color: '#4A5568', marginTop: 6 }}&gt;例患者&lt;/Text&gt;&#10;        &lt;/Box&gt;&#10;        &lt;Box style={{ flex: 1, background: '#F0F5FC', borderRadius: 10, padding: 18, alignItems: 'center' }}&gt;&#10;          &lt;Text style={{ fontSize: 46, fontWeight: 'bold', color: '#1E4FA8', lineHeight: 1.1 }}&gt;29&lt;/Text&gt;&#10;          &lt;Text style={{ fontSize: 15, color: '#4A5568', marginTop: 6 }}&gt;列变量&lt;/Text&gt;&#10;        &lt;/Box&gt;&#10;        &lt;Box style={{ flex: 1, background: '#F0F5FC', borderRadius: 10, padding: 18, alignItems: 'center' }}&gt;&#10;          &lt;Text style={{ fontSize: 46, fontWeight: 'bold', color: '#1E4FA8', lineHeight: 1.1 }}&gt;93:70&lt;/Text&gt;&#10;          &lt;Text style={{ fontSize: 15, color: '#4A5568', marginTop: 6 }}&gt;应答 : 不应答&lt;/Text&gt;&#10;        &lt;/Box&gt;&#10;      &lt;/Box&gt;&#10;      &lt;Table&#10;        style={{ width: '100%', height: 238, marginTop: 16 }}&#10;        defaultTextStyle={{ fontSize: 15, textAlign: 'center', color: '#1A2230' }}&#10;        defaultCellStyle={{&#10;          border: {&#10;            left: { width: 1, color: '#E5E7EB' },&#10;            right: { width: 1, color: '#E5E7EB' },&#10;            top: { width: 1, color: '#E5E7EB' },&#10;            bottom: { width: 1, color: '#E5E7EB' },&#10;          },&#10;        }}&#10;        cells={[&#10;          [&#10;            { text: '变量类别', textStyle: { bold: true, color: '#FFFFFF' }, cellStyle: { background: { color: '#1E4FA8' } } },&#10;            { text: '具体变量', textStyle: { bold: true, color: '#FFFFFF' }, cellStyle: { background: { color: '#1E4FA8' } } },&#10;            { text: '类型', textStyle: { bold: true, color: '#FFFFFF' }, cellStyle: { background: { color: '#1E4FA8' } } },&#10;          ],&#10;          ['人口学 / 合并症', 'Gender_male, Age, DCM, Hypertension, Diabetes', '连续 + 二分类'],&#10;          ['心电图 / 心律', 'QRSd_ms, NS_VT', '连续 + 二分类'],&#10;          ['化验 / 功能分级', 'NT_proBNP（有序 1–5）, NYHA（2–4）', '有序分类'],&#10;          ['超声心动图', 'EDV, ESV, LVEDD, LVESD, LVEF_Echo', '连续'],&#10;          ['SPECT 影像 / 相位', 'LVEF_SPECT, Rest_Scar_Burden, PSD / PBW, match, lead_in_scar', '连续 + 二分类'],&#10;          ['用药', 'ARB, ACEI, βblocker, Diuretic, Spironolactone', '二分类'],&#10;        ]}&#10;      /&gt;&#10;      &lt;Box style={{ marginTop: 16, flexDirection: 'row', alignItems: 'center', background: '#F7F9FC', border: '1px solid #D6DCE5', borderRadius: 8, paddingLeft: 18, paddingRight: 18, paddingTop: 14, paddingBottom: 14 }}&gt;&#10;        &lt;Box style={{ width: 10, height: 10, borderRadius: 5, background: '#D9534F' }} /&gt;&#10;        &lt;Text style={{ fontSize: 15, color: '#4A5568', marginLeft: 14, flex: 1 }}&gt;&#10;          数据质量备注：Age 有 1 例取值 165（疑录入错误，保留原值以与已发表队列一致）；全表 0 缺失、无重复行。&#10;        &lt;/Text&gt;&#10;      &lt;/Box&gt;&#10;    &lt;/Box&gt;&#10;  &lt;/Box&gt;&#10;  &lt;Box style={{ height: 40, flexDirection: 'row', alignItems: 'center', justifyContent: 'space-between', paddingLeft: 40, paddingRight: 40, borderTop: '1px solid #E5E7EB', background: '#F7F9FC' }}&gt;&#10;    &lt;Text style={{ fontSize: 13, color: '#8B97A8' }}&gt;南京医科大学第一附属医院 · 心律失常团队&lt;/Text&gt;&#10;    &lt;Text style={{ fontSize: 14, fontWeight: 'bold', color: '#1E4FA8' }}&gt;05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5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17335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数据与建模任务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9896475" y="304800"/>
            <a:ext cx="1914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CRT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应答预测</a:t>
            </a:r>
            <a:r>
              <a:rPr lang="en-US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· AI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模型基准对比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0" y="762000"/>
            <a:ext cx="12192000" cy="5715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9" name=""/>
          <p:cNvSpPr/>
          <p:nvPr/>
        </p:nvSpPr>
        <p:spPr>
          <a:xfrm rot="0" flipH="0" flipV="0">
            <a:off x="381000" y="1771650"/>
            <a:ext cx="5334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381000" y="1971675"/>
            <a:ext cx="3143250" cy="15430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一份队列，</a:t>
            </a:r>
            <a:endParaRPr/>
          </a:p>
          <a:p>
            <a:pPr>
              <a:lnSpc>
                <a:spcPct val="140000"/>
              </a:lnSpc>
            </a:pP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一个明确的</a:t>
            </a:r>
            <a:endParaRPr/>
          </a:p>
          <a:p>
            <a:pPr>
              <a:lnSpc>
                <a:spcPct val="140000"/>
              </a:lnSpc>
            </a:pPr>
            <a:r>
              <a:rPr lang="zh-CN" sz="2400" b="1">
                <a:solidFill>
                  <a:srgbClr val="0E3F8C"/>
                </a:solidFill>
                <a:latin typeface="Microsoft YaHei"/>
                <a:ea typeface="Microsoft YaHei"/>
              </a:rPr>
              <a:t>预测任务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381000" y="3724275"/>
            <a:ext cx="3143250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数据来自南京医科大学第一附属医院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2010–2020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年药物难治性心衰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 xml:space="preserve"> CRT 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患者，与已发表论文（</a:t>
            </a:r>
            <a:r>
              <a:rPr lang="en-US" sz="1200">
                <a:solidFill>
                  <a:srgbClr val="4A5568"/>
                </a:solidFill>
                <a:latin typeface="Microsoft YaHei"/>
                <a:ea typeface="Microsoft YaHei"/>
              </a:rPr>
              <a:t>Jiang et al., QIMS 2025</a:t>
            </a: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）完全同源。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381000" y="4819650"/>
            <a:ext cx="31432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4A5568"/>
                </a:solidFill>
                <a:latin typeface="Microsoft YaHei"/>
                <a:ea typeface="Microsoft YaHei"/>
              </a:rPr>
              <a:t>全部变量均为数值型，无需复杂特征工程即可直接进入统一对比框架。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3790950" y="952500"/>
            <a:ext cx="2571750" cy="1152525"/>
          </a:xfrm>
          <a:prstGeom prst="roundRect">
            <a:avLst>
              <a:gd name="adj" fmla="val 826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4667250" y="1123950"/>
            <a:ext cx="819150" cy="5810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450" b="1">
                <a:solidFill>
                  <a:srgbClr val="1E4FA8"/>
                </a:solidFill>
                <a:latin typeface="Microsoft YaHei"/>
                <a:ea typeface="Microsoft YaHei"/>
              </a:rPr>
              <a:t>163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4867275" y="176212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例患者</a:t>
            </a:r>
            <a:endParaRPr/>
          </a:p>
        </p:txBody>
      </p:sp>
      <p:sp>
        <p:nvSpPr>
          <p:cNvPr id="236" name=""/>
          <p:cNvSpPr/>
          <p:nvPr/>
        </p:nvSpPr>
        <p:spPr>
          <a:xfrm rot="0" flipH="0" flipV="0">
            <a:off x="6515100" y="952500"/>
            <a:ext cx="2571750" cy="1152525"/>
          </a:xfrm>
          <a:prstGeom prst="roundRect">
            <a:avLst>
              <a:gd name="adj" fmla="val 826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7534275" y="1123950"/>
            <a:ext cx="542925" cy="5810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450" b="1">
                <a:solidFill>
                  <a:srgbClr val="1E4FA8"/>
                </a:solidFill>
                <a:latin typeface="Microsoft YaHei"/>
                <a:ea typeface="Microsoft YaHei"/>
              </a:rPr>
              <a:t>29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7591425" y="176212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列变量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9239250" y="952500"/>
            <a:ext cx="2571750" cy="1152525"/>
          </a:xfrm>
          <a:prstGeom prst="roundRect">
            <a:avLst>
              <a:gd name="adj" fmla="val 826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9925050" y="1123950"/>
            <a:ext cx="1209675" cy="5810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450" b="1">
                <a:solidFill>
                  <a:srgbClr val="1E4FA8"/>
                </a:solidFill>
                <a:latin typeface="Microsoft YaHei"/>
                <a:ea typeface="Microsoft YaHei"/>
              </a:rPr>
              <a:t>93:70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10106025" y="1762125"/>
            <a:ext cx="838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应答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: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不应答</a:t>
            </a:r>
            <a:endParaRPr/>
          </a:p>
        </p:txBody>
      </p:sp>
      <p:graphicFrame>
        <p:nvGraphicFramePr>
          <p:cNvPr id="242" name=""/>
          <p:cNvGraphicFramePr/>
          <p:nvPr/>
        </p:nvGraphicFramePr>
        <p:xfrm rot="0" flipH="0" flipV="0">
          <a:off x="3790950" y="2257425"/>
          <a:ext cx="8020050" cy="2266950"/>
        </p:xfrm>
        <a:graphic>
          <a:graphicData uri="http://schemas.openxmlformats.org/drawingml/2006/table">
            <a:tbl>
              <a:tblGrid>
                <a:gridCol w="1544789">
                  <a:extLst>
                    <a:ext uri="{9D8B030D-6E8A-4147-A177-3AD203B41FA5}">
                      <a16:colId val="1"/>
                    </a:ext>
                  </a:extLst>
                </a:gridCol>
                <a:gridCol w="5263301">
                  <a:extLst>
                    <a:ext uri="{9D8B030D-6E8A-4147-A177-3AD203B41FA5}">
                      <a16:colId val="2"/>
                    </a:ext>
                  </a:extLst>
                </a:gridCol>
                <a:gridCol w="1211959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3238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变量类别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具体变量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类型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238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人口学 / 合并症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Gender_male, Age, DCM, Hypertension, Diabetes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连续 + 二分类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238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心电图 / 心律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QRSd_ms, NS_VT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连续 + 二分类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238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化验 / 功能分级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NT_proBNP（有序 1–5）, NYHA（2–4）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有序分类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238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超声心动图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EDV, ESV, LVEDD, LVESD, LVEF_Echo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连续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238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SPECT 影像 / 相位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LVEF_SPECT, Rest_Scar_Burden, PSD / PBW, match, lead_in_scar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连续 + 二分类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238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用药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ARB, ACEI, βblocker, Diuretic, Spironolactone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二分类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243" name=""/>
          <p:cNvSpPr/>
          <p:nvPr/>
        </p:nvSpPr>
        <p:spPr>
          <a:xfrm rot="0" flipH="0" flipV="0">
            <a:off x="3790950" y="4676775"/>
            <a:ext cx="8020050" cy="438150"/>
          </a:xfrm>
          <a:prstGeom prst="roundRect">
            <a:avLst>
              <a:gd name="adj" fmla="val 17391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3962400" y="48482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4191000" y="4810125"/>
            <a:ext cx="7448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数据质量备注：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Age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有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例取值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165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（疑录入错误，保留原值以与已发表队列一致）；全表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缺失、无重复行。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0" y="6486525"/>
            <a:ext cx="12192000" cy="3714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47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381000" y="660082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南京医科大学第一附属医院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心律失常团队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11334750" y="65913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05 / 15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250" name="" descr="&lt;Slide style={{ width: 1280, height: 720, background: '#FFFFFF', paddingLeft: 80, paddingRight: 80, justifyContent: 'center', fontFamily: '&quot;Microsoft YaHei&quot;,&quot;Source Han Sans SC&quot;,&quot;Noto Sans SC&quot;,sans-serif' }}&gt;&#10;  &lt;Box style={{ flexDirection: 'row', alignItems: 'center' }}&gt;&#10;    &lt;Text style={{ fontSize: 190, fontWeight: 'bold', color: '#E8EFF8', lineHeight: 1 }}&gt;02&lt;/Text&gt;&#10;    &lt;Box style={{ marginLeft: 40, flex: 1 }}&gt;&#10;      &lt;Text style={{ fontSize: 15, color: '#3D7BD9', letterSpacing: 4 }}&gt;SECTION 02&lt;/Text&gt;&#10;      &lt;Text style={{ fontSize: 42, fontWeight: 'bold', color: '#0E3F8C', marginTop: 10 }}&gt;对比设计与方法&lt;/Text&gt;&#10;      &lt;Box style={{ width: 72, height: 5, background: '#1E4FA8', marginTop: 18 }} /&gt;&#10;    &lt;/Box&gt;&#10;  &lt;/Box&gt;&#10;  &lt;Box style={{ marginTop: 56, gap: 18 }}&gt;&#10;    &lt;Box style={{ flexDirection: 'row', alignItems: 'center', background: '#F0F5FC', borderRadius: 8, paddingLeft: 24, paddingRight: 24, paddingTop: 16, paddingBottom: 16 }}&gt;&#10;      &lt;Box style={{ width: 10, height: 10, borderRadius: 5, background: '#1E4FA8' }} /&gt;&#10;      &lt;Text style={{ fontSize: 20, color: '#1A2230', marginLeft: 18 }}&gt;37 个候选模型：六大方法族，从正则线性模型到深度学习与集成之集成&lt;/Text&gt;&#10;    &lt;/Box&gt;&#10;    &lt;Box style={{ flexDirection: 'row', alignItems: 'center', background: '#F0F5FC', borderRadius: 8, paddingLeft: 24, paddingRight: 24, paddingTop: 16, paddingBottom: 16 }}&gt;&#10;      &lt;Box style={{ width: 10, height: 10, borderRadius: 5, background: '#1E4FA8' }} /&gt;&#10;      &lt;Text style={{ fontSize: 20, color: '#1A2230', marginLeft: 18 }}&gt;嵌套重复分层交叉验证：外层 5 折 × 5 次重复，内层 3 折调参&lt;/Text&gt;&#10;    &lt;/Box&gt;&#10;    &lt;Box style={{ flexDirection: 'row', alignItems: 'center', background: '#F0F5FC', borderRadius: 8, paddingLeft: 24, paddingRight: 24, paddingTop: 16, paddingBottom: 16 }}&gt;&#10;      &lt;Box style={{ width: 10, height: 10, borderRadius: 5, background: '#1E4FA8' }} /&gt;&#10;      &lt;Text style={{ fontSize: 20, color: '#1A2230', marginLeft: 18 }}&gt;预处理与调参只发生在训练折内，全程杜绝数据泄漏&lt;/Text&gt;&#10;    &lt;/Box&gt;&#10;  &lt;/Box&gt;&#10;  &lt;Box style={{ position: 'absolute', bottom: 0, left: 0, right: 0, height: 8, background: '#1E4FA8'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762000" y="1104900"/>
            <a:ext cx="2238375" cy="2171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0" b="1">
                <a:solidFill>
                  <a:srgbClr val="E8EFF8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3381375" y="1704975"/>
            <a:ext cx="804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D7BD9"/>
                </a:solidFill>
                <a:latin typeface="Microsoft YaHei"/>
                <a:ea typeface="Microsoft YaHei"/>
              </a:rPr>
              <a:t>SECTION 02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3381375" y="1971675"/>
            <a:ext cx="8048625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150" b="1">
                <a:solidFill>
                  <a:srgbClr val="0E3F8C"/>
                </a:solidFill>
                <a:latin typeface="Microsoft YaHei"/>
                <a:ea typeface="Microsoft YaHei"/>
              </a:rPr>
              <a:t>对比设计与方法</a:t>
            </a:r>
            <a:endParaRPr/>
          </a:p>
        </p:txBody>
      </p:sp>
      <p:sp>
        <p:nvSpPr>
          <p:cNvPr id="255" name=""/>
          <p:cNvSpPr/>
          <p:nvPr/>
        </p:nvSpPr>
        <p:spPr>
          <a:xfrm rot="0" flipH="0" flipV="0">
            <a:off x="3381375" y="2628900"/>
            <a:ext cx="6858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6" name=""/>
          <p:cNvSpPr/>
          <p:nvPr/>
        </p:nvSpPr>
        <p:spPr>
          <a:xfrm rot="0" flipH="0" flipV="0">
            <a:off x="762000" y="3810000"/>
            <a:ext cx="10668000" cy="533400"/>
          </a:xfrm>
          <a:prstGeom prst="roundRect">
            <a:avLst>
              <a:gd name="adj" fmla="val 1428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57" name=""/>
          <p:cNvSpPr/>
          <p:nvPr/>
        </p:nvSpPr>
        <p:spPr>
          <a:xfrm rot="0" flipH="0" flipV="0">
            <a:off x="990600" y="40290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257300" y="3962400"/>
            <a:ext cx="600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37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个候选模型：六大方法族，从正则线性模型到深度学习与集成之集成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762000" y="4514850"/>
            <a:ext cx="10668000" cy="533400"/>
          </a:xfrm>
          <a:prstGeom prst="roundRect">
            <a:avLst>
              <a:gd name="adj" fmla="val 1428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60" name=""/>
          <p:cNvSpPr/>
          <p:nvPr/>
        </p:nvSpPr>
        <p:spPr>
          <a:xfrm rot="0" flipH="0" flipV="0">
            <a:off x="990600" y="47339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1257300" y="4667250"/>
            <a:ext cx="5257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嵌套重复分层交叉验证：外层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折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× 5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次重复，内层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折调参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762000" y="5219700"/>
            <a:ext cx="10668000" cy="533400"/>
          </a:xfrm>
          <a:prstGeom prst="roundRect">
            <a:avLst>
              <a:gd name="adj" fmla="val 1428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63" name=""/>
          <p:cNvSpPr/>
          <p:nvPr/>
        </p:nvSpPr>
        <p:spPr>
          <a:xfrm rot="0" flipH="0" flipV="0">
            <a:off x="990600" y="54387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1257300" y="5372100"/>
            <a:ext cx="4381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预处理与调参只发生在训练折内，全程杜绝数据泄漏</a:t>
            </a:r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0" y="678180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66" name="" descr="&lt;Slide style={{ width: 1280, height: 720, background: '#FFFFFF', flexDirection: 'column', fontFamily: '&quot;Microsoft YaHei&quot;,&quot;Source Han Sans SC&quot;,&quot;Noto Sans SC&quot;,sans-serif' }}&gt;&#10;  &lt;Box style={{ height: 80, background: '#1E4FA8', flexDirection: 'row', alignItems: 'center', justifyContent: 'space-between', paddingLeft: 40, paddingRight: 40 }}&gt;&#10;    &lt;Text style={{ fontSize: 26, fontWeight: 'bold', color: '#FFFFFF' }}&gt;方法全景：37 种建模方案，六大方法族&lt;/Text&gt;&#10;    &lt;Text style={{ fontSize: 14, color: 'rgba(255,255,255,0.75)' }}&gt;CRT 应答预测 · AI 模型基准对比&lt;/Text&gt;&#10;  &lt;/Box&gt;&#10;  &lt;Box style={{ flex: 1, paddingLeft: 40, paddingRight: 40, paddingTop: 18, paddingBottom: 18, background: '#FFFFFF' }}&gt;&#10;    &lt;Box style={{ flexDirection: 'row', gap: 12 }}&gt;&#10;      {[&#10;        { f: '线性 / 正则化', n: 10, c: '#1B4F9C', m: 'LASSO · Ridge · ElasticNet · 逐步AIC · LDA/QDA · 朴素贝叶斯 · 多项式展开' },&#10;        { f: '核方法 / 贝叶斯', n: 5, c: '#2E86AB', m: 'SVM（线性/多项式/RBF）· 高斯过程 · KNN' },&#10;      ].map((x, i) =&gt; (&#10;        &lt;Box key={i} style={{ flex: 1, background: '#F0F5FC', border: '1px solid #D6DCE5', borderTop: '4px solid ' + x.c, borderRadius: 8, padding: 14, height: 128 }}&gt;&#10;          &lt;Box style={{ flexDirection: 'row', alignItems: 'center' }}&gt;&#10;            &lt;Text style={{ fontSize: 19, fontWeight: 'bold', color: x.c }}&gt;{x.f}&lt;/Text&gt;&#10;            &lt;Box style={{ marginLeft: 10, paddingLeft: 10, paddingRight: 10, paddingTop: 2, paddingBottom: 2, background: x.c, borderRadius: 10 }}&gt;&#10;              &lt;Text style={{ fontSize: 13, fontWeight: 'bold', color: '#FFFFFF' }}&gt;{x.n} 个&lt;/Text&gt;&#10;            &lt;/Box&gt;&#10;          &lt;/Box&gt;&#10;          &lt;Text style={{ fontSize: 13.5, color: '#4A5568', lineHeight: 1.6, marginTop: 8 }}&gt;{x.m}&lt;/Text&gt;&#10;        &lt;/Box&gt;&#10;      ))}&#10;    &lt;/Box&gt;&#10;    &lt;Box style={{ flexDirection: 'row', gap: 12, marginTop: 12 }}&gt;&#10;      {[&#10;        { f: '树模型与集成', n: 9, c: '#2A9D5C', m: '决策树 · RF · ExtraTrees · GBDT · HistGB · XGBoost · LightGBM · AdaBoost · Bagging' },&#10;        { f: '深度学习', n: 6, c: '#C0392B', m: 'MLP（小/中/深）· TabNet · TabNet-Deep · FT-Transformer（自研实现）' },&#10;      ].map((x, i) =&gt; (&#10;        &lt;Box key={i} style={{ flex: 1, background: '#F0F5FC', border: '1px solid #D6DCE5', borderTop: '4px solid ' + x.c, borderRadius: 8, padding: 14, height: 128 }}&gt;&#10;          &lt;Box style={{ flexDirection: 'row', alignItems: 'center' }}&gt;&#10;            &lt;Text style={{ fontSize: 19, fontWeight: 'bold', color: x.c }}&gt;{x.f}&lt;/Text&gt;&#10;            &lt;Box style={{ marginLeft: 10, paddingLeft: 10, paddingRight: 10, paddingTop: 2, paddingBottom: 2, background: x.c, borderRadius: 10 }}&gt;&#10;              &lt;Text style={{ fontSize: 13, fontWeight: 'bold', color: '#FFFFFF' }}&gt;{x.n} 个&lt;/Text&gt;&#10;            &lt;/Box&gt;&#10;          &lt;/Box&gt;&#10;          &lt;Text style={{ fontSize: 13.5, color: '#4A5568', lineHeight: 1.6, marginTop: 8 }}&gt;{x.m}&lt;/Text&gt;&#10;        &lt;/Box&gt;&#10;      ))}&#10;    &lt;/Box&gt;&#10;    &lt;Box style={{ flexDirection: 'row', gap: 12, marginTop: 12 }}&gt;&#10;      {[&#10;        { f: '集成之集成', n: 3, c: '#8E44AD', m: '软投票 · Stacking（折内元特征，天生无泄漏）· Super Learner（非负权重）' },&#10;        { f: '筛选消融', n: 4, c: '#7F8C8D', m: 'SVM/XGBoost/MLP/RF 的&quot;单变量筛选版&quot;，用于量化特征筛选的得失' },&#10;      ].map((x, i) =&gt; (&#10;        &lt;Box key={i} style={{ flex: 1, background: '#F0F5FC', border: '1px solid #D6DCE5', borderTop: '4px solid ' + x.c, borderRadius: 8, padding: 14, height: 118 }}&gt;&#10;          &lt;Box style={{ flexDirection: 'row', alignItems: 'center' }}&gt;&#10;            &lt;Text style={{ fontSize: 19, fontWeight: 'bold', color: x.c }}&gt;{x.f}&lt;/Text&gt;&#10;            &lt;Box style={{ marginLeft: 10, paddingLeft: 10, paddingRight: 10, paddingTop: 2, paddingBottom: 2, background: x.c, borderRadius: 10 }}&gt;&#10;              &lt;Text style={{ fontSize: 13, fontWeight: 'bold', color: '#FFFFFF' }}&gt;{x.n} 个&lt;/Text&gt;&#10;            &lt;/Box&gt;&#10;          &lt;/Box&gt;&#10;          &lt;Text style={{ fontSize: 13.5, color: '#4A5568', lineHeight: 1.6, marginTop: 8 }}&gt;{x.m}&lt;/Text&gt;&#10;        &lt;/Box&gt;&#10;      ))}&#10;      &lt;Box style={{ flex: 1, background: '#0E3F8C', borderRadius: 8, padding: 14, height: 118, justifyContent: 'center' }}&gt;&#10;        &lt;Text style={{ fontSize: 17, fontWeight: 'bold', color: '#FFFFFF' }}&gt;含已发表 LASSO 基线&lt;/Text&gt;&#10;        &lt;Text style={{ fontSize: 13.5, color: '#DCE6F5', lineHeight: 1.6, marginTop: 8 }}&gt;与 Jiang et al. QIMS 2025 完全同源的列线图方法，作为参照系&lt;/Text&gt;&#10;      &lt;/Box&gt;&#10;    &lt;/Box&gt;&#10;    &lt;Box style={{ marginTop: 14, height: 50, background: '#F0F5FC', borderRadius: 8, flexDirection: 'row', alignItems: 'center', paddingLeft: 20, paddingRight: 20, border: '1px solid #D6DCE5' }}&gt;&#10;      &lt;Text style={{ fontSize: 16, color: '#0E3F8C' }}&gt;全部 37 个模型使用同一套数据划分、同一种预处理管道、同一随机种子 —— 唯一的变量是&quot;建模方法本身&quot;&lt;/Text&gt;&#10;    &lt;/Box&gt;&#10;  &lt;/Box&gt;&#10;  &lt;Box style={{ height: 40, flexDirection: 'row', alignItems: 'center', justifyContent: 'space-between', paddingLeft: 40, paddingRight: 40, borderTop: '1px solid #E5E7EB', background: '#F7F9FC' }}&gt;&#10;    &lt;Text style={{ fontSize: 13, color: '#8B97A8' }}&gt;南京医科大学第一附属医院 · 心律失常团队&lt;/Text&gt;&#10;    &lt;Text style={{ fontSize: 14, fontWeight: 'bold', color: '#1E4FA8' }}&gt;07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8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43434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方法全景：</a:t>
            </a: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37 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种建模方案，六大方法族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9896475" y="304800"/>
            <a:ext cx="1914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CRT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应答预测</a:t>
            </a:r>
            <a:r>
              <a:rPr lang="en-US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· AI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模型基准对比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0" y="762000"/>
            <a:ext cx="12192000" cy="5715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2" name=""/>
          <p:cNvSpPr/>
          <p:nvPr/>
        </p:nvSpPr>
        <p:spPr>
          <a:xfrm rot="0" flipH="0" flipV="0">
            <a:off x="381000" y="971550"/>
            <a:ext cx="5657850" cy="1181100"/>
          </a:xfrm>
          <a:prstGeom prst="roundRect">
            <a:avLst>
              <a:gd name="adj" fmla="val 6452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73" name=""/>
          <p:cNvSpPr/>
          <p:nvPr/>
        </p:nvSpPr>
        <p:spPr>
          <a:xfrm rot="0" flipH="0" flipV="0">
            <a:off x="381000" y="971550"/>
            <a:ext cx="5657850" cy="1181100"/>
          </a:xfrm>
          <a:custGeom>
            <a:pathLst>
              <a:path w="594" h="124">
                <a:moveTo>
                  <a:pt x="586" y="0"/>
                </a:moveTo>
                <a:cubicBezTo>
                  <a:pt x="590" y="0"/>
                  <a:pt x="593" y="3"/>
                  <a:pt x="594" y="7"/>
                </a:cubicBezTo>
                <a:cubicBezTo>
                  <a:pt x="593" y="5"/>
                  <a:pt x="592" y="4"/>
                  <a:pt x="590" y="4"/>
                </a:cubicBezTo>
                <a:lnTo>
                  <a:pt x="4" y="4"/>
                </a:lnTo>
                <a:cubicBezTo>
                  <a:pt x="2" y="4"/>
                  <a:pt x="0" y="5"/>
                  <a:pt x="0" y="7"/>
                </a:cubicBezTo>
                <a:cubicBezTo>
                  <a:pt x="0" y="3"/>
                  <a:pt x="4" y="0"/>
                  <a:pt x="8" y="0"/>
                </a:cubicBezTo>
                <a:lnTo>
                  <a:pt x="586" y="0"/>
                </a:lnTo>
                <a:close/>
              </a:path>
            </a:pathLst>
          </a:custGeom>
          <a:solidFill>
            <a:srgbClr val="1B4F9C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514350" y="1104900"/>
            <a:ext cx="1104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1B4F9C"/>
                </a:solidFill>
                <a:latin typeface="Microsoft YaHei"/>
                <a:ea typeface="Microsoft YaHei"/>
              </a:rPr>
              <a:t>线性</a:t>
            </a:r>
            <a:r>
              <a:rPr lang="en-US" sz="1425" b="1">
                <a:solidFill>
                  <a:srgbClr val="1B4F9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425" b="1">
                <a:solidFill>
                  <a:srgbClr val="1B4F9C"/>
                </a:solidFill>
                <a:latin typeface="Microsoft YaHei"/>
                <a:ea typeface="Microsoft YaHei"/>
              </a:rPr>
              <a:t>正则化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1714500" y="1123950"/>
            <a:ext cx="504825" cy="190500"/>
          </a:xfrm>
          <a:prstGeom prst="roundRect">
            <a:avLst>
              <a:gd name="adj" fmla="val 50000"/>
            </a:avLst>
          </a:prstGeom>
          <a:solidFill>
            <a:srgbClr val="1B4F9C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1809750" y="1143000"/>
            <a:ext cx="314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10</a:t>
            </a: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514350" y="1400175"/>
            <a:ext cx="53911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 xml:space="preserve">LASSO · Ridge · ElasticNet · </a:t>
            </a:r>
            <a:r>
              <a:rPr lang="zh-CN" sz="1013">
                <a:solidFill>
                  <a:srgbClr val="4A5568"/>
                </a:solidFill>
                <a:latin typeface="Microsoft YaHei"/>
                <a:ea typeface="Microsoft YaHei"/>
              </a:rPr>
              <a:t>逐步</a:t>
            </a: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 xml:space="preserve">AIC · LDA/QDA · </a:t>
            </a:r>
            <a:r>
              <a:rPr lang="zh-CN" sz="1013">
                <a:solidFill>
                  <a:srgbClr val="4A5568"/>
                </a:solidFill>
                <a:latin typeface="Microsoft YaHei"/>
                <a:ea typeface="Microsoft YaHei"/>
              </a:rPr>
              <a:t>朴素贝叶斯</a:t>
            </a: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13">
                <a:solidFill>
                  <a:srgbClr val="4A5568"/>
                </a:solidFill>
                <a:latin typeface="Microsoft YaHei"/>
                <a:ea typeface="Microsoft YaHei"/>
              </a:rPr>
              <a:t>多项式展开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6153150" y="971550"/>
            <a:ext cx="5657850" cy="1181100"/>
          </a:xfrm>
          <a:prstGeom prst="roundRect">
            <a:avLst>
              <a:gd name="adj" fmla="val 6452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79" name=""/>
          <p:cNvSpPr/>
          <p:nvPr/>
        </p:nvSpPr>
        <p:spPr>
          <a:xfrm rot="0" flipH="0" flipV="0">
            <a:off x="6153150" y="971550"/>
            <a:ext cx="5657850" cy="1181100"/>
          </a:xfrm>
          <a:custGeom>
            <a:pathLst>
              <a:path w="594" h="124">
                <a:moveTo>
                  <a:pt x="586" y="0"/>
                </a:moveTo>
                <a:cubicBezTo>
                  <a:pt x="590" y="0"/>
                  <a:pt x="593" y="3"/>
                  <a:pt x="594" y="7"/>
                </a:cubicBezTo>
                <a:cubicBezTo>
                  <a:pt x="593" y="5"/>
                  <a:pt x="592" y="4"/>
                  <a:pt x="590" y="4"/>
                </a:cubicBezTo>
                <a:lnTo>
                  <a:pt x="4" y="4"/>
                </a:lnTo>
                <a:cubicBezTo>
                  <a:pt x="2" y="4"/>
                  <a:pt x="0" y="5"/>
                  <a:pt x="0" y="7"/>
                </a:cubicBezTo>
                <a:cubicBezTo>
                  <a:pt x="0" y="3"/>
                  <a:pt x="4" y="0"/>
                  <a:pt x="8" y="0"/>
                </a:cubicBezTo>
                <a:lnTo>
                  <a:pt x="586" y="0"/>
                </a:lnTo>
                <a:close/>
              </a:path>
            </a:pathLst>
          </a:custGeom>
          <a:solidFill>
            <a:srgbClr val="2E86AB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6286500" y="1104900"/>
            <a:ext cx="1285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E86AB"/>
                </a:solidFill>
                <a:latin typeface="Microsoft YaHei"/>
                <a:ea typeface="Microsoft YaHei"/>
              </a:rPr>
              <a:t>核方法</a:t>
            </a:r>
            <a:r>
              <a:rPr lang="en-US" sz="1425" b="1">
                <a:solidFill>
                  <a:srgbClr val="2E86AB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425" b="1">
                <a:solidFill>
                  <a:srgbClr val="2E86AB"/>
                </a:solidFill>
                <a:latin typeface="Microsoft YaHei"/>
                <a:ea typeface="Microsoft YaHei"/>
              </a:rPr>
              <a:t>贝叶斯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7667625" y="1123950"/>
            <a:ext cx="428625" cy="190500"/>
          </a:xfrm>
          <a:prstGeom prst="roundRect">
            <a:avLst>
              <a:gd name="adj" fmla="val 50000"/>
            </a:avLst>
          </a:prstGeom>
          <a:solidFill>
            <a:srgbClr val="2E86AB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7762875" y="1143000"/>
            <a:ext cx="238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286500" y="1400175"/>
            <a:ext cx="53911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SVM</a:t>
            </a:r>
            <a:r>
              <a:rPr lang="zh-CN" sz="1013">
                <a:solidFill>
                  <a:srgbClr val="4A5568"/>
                </a:solidFill>
                <a:latin typeface="Microsoft YaHei"/>
                <a:ea typeface="Microsoft YaHei"/>
              </a:rPr>
              <a:t>（线性</a:t>
            </a: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/</a:t>
            </a:r>
            <a:r>
              <a:rPr lang="zh-CN" sz="1013">
                <a:solidFill>
                  <a:srgbClr val="4A5568"/>
                </a:solidFill>
                <a:latin typeface="Microsoft YaHei"/>
                <a:ea typeface="Microsoft YaHei"/>
              </a:rPr>
              <a:t>多项式</a:t>
            </a: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/RBF</a:t>
            </a:r>
            <a:r>
              <a:rPr lang="zh-CN" sz="1013">
                <a:solidFill>
                  <a:srgbClr val="4A5568"/>
                </a:solidFill>
                <a:latin typeface="Microsoft YaHei"/>
                <a:ea typeface="Microsoft YaHei"/>
              </a:rPr>
              <a:t>）·</a:t>
            </a: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13">
                <a:solidFill>
                  <a:srgbClr val="4A5568"/>
                </a:solidFill>
                <a:latin typeface="Microsoft YaHei"/>
                <a:ea typeface="Microsoft YaHei"/>
              </a:rPr>
              <a:t>高斯过程</a:t>
            </a: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KNN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381000" y="2305050"/>
            <a:ext cx="5657850" cy="1181100"/>
          </a:xfrm>
          <a:prstGeom prst="roundRect">
            <a:avLst>
              <a:gd name="adj" fmla="val 6452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85" name=""/>
          <p:cNvSpPr/>
          <p:nvPr/>
        </p:nvSpPr>
        <p:spPr>
          <a:xfrm rot="0" flipH="0" flipV="0">
            <a:off x="381000" y="2305050"/>
            <a:ext cx="5657850" cy="1181100"/>
          </a:xfrm>
          <a:custGeom>
            <a:pathLst>
              <a:path w="594" h="124">
                <a:moveTo>
                  <a:pt x="586" y="0"/>
                </a:moveTo>
                <a:cubicBezTo>
                  <a:pt x="590" y="0"/>
                  <a:pt x="593" y="3"/>
                  <a:pt x="594" y="7"/>
                </a:cubicBezTo>
                <a:cubicBezTo>
                  <a:pt x="593" y="5"/>
                  <a:pt x="592" y="4"/>
                  <a:pt x="590" y="4"/>
                </a:cubicBezTo>
                <a:lnTo>
                  <a:pt x="4" y="4"/>
                </a:lnTo>
                <a:cubicBezTo>
                  <a:pt x="2" y="4"/>
                  <a:pt x="0" y="5"/>
                  <a:pt x="0" y="7"/>
                </a:cubicBezTo>
                <a:cubicBezTo>
                  <a:pt x="0" y="3"/>
                  <a:pt x="4" y="0"/>
                  <a:pt x="8" y="0"/>
                </a:cubicBezTo>
                <a:lnTo>
                  <a:pt x="586" y="0"/>
                </a:lnTo>
                <a:close/>
              </a:path>
            </a:pathLst>
          </a:custGeom>
          <a:solidFill>
            <a:srgbClr val="2A9D5C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514350" y="2438400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A9D5C"/>
                </a:solidFill>
                <a:latin typeface="Microsoft YaHei"/>
                <a:ea typeface="Microsoft YaHei"/>
              </a:rPr>
              <a:t>树模型与集成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1695450" y="2457450"/>
            <a:ext cx="428625" cy="190500"/>
          </a:xfrm>
          <a:prstGeom prst="roundRect">
            <a:avLst>
              <a:gd name="adj" fmla="val 50000"/>
            </a:avLst>
          </a:prstGeom>
          <a:solidFill>
            <a:srgbClr val="2A9D5C"/>
          </a:solidFill>
          <a:ln/>
        </p:spPr>
        <p:txBody>
          <a:bodyPr/>
          <a:p/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790700" y="2476500"/>
            <a:ext cx="238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9</a:t>
            </a: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514350" y="2733675"/>
            <a:ext cx="53911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4A5568"/>
                </a:solidFill>
                <a:latin typeface="Microsoft YaHei"/>
                <a:ea typeface="Microsoft YaHei"/>
              </a:rPr>
              <a:t>决策树</a:t>
            </a: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RF · ExtraTrees · GBDT · HistGB · XGBoost · LightGBM · AdaBoost · Bagging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6153150" y="2305050"/>
            <a:ext cx="5657850" cy="1181100"/>
          </a:xfrm>
          <a:prstGeom prst="roundRect">
            <a:avLst>
              <a:gd name="adj" fmla="val 6452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91" name=""/>
          <p:cNvSpPr/>
          <p:nvPr/>
        </p:nvSpPr>
        <p:spPr>
          <a:xfrm rot="0" flipH="0" flipV="0">
            <a:off x="6153150" y="2305050"/>
            <a:ext cx="5657850" cy="1181100"/>
          </a:xfrm>
          <a:custGeom>
            <a:pathLst>
              <a:path w="594" h="124">
                <a:moveTo>
                  <a:pt x="586" y="0"/>
                </a:moveTo>
                <a:cubicBezTo>
                  <a:pt x="590" y="0"/>
                  <a:pt x="593" y="3"/>
                  <a:pt x="594" y="7"/>
                </a:cubicBezTo>
                <a:cubicBezTo>
                  <a:pt x="593" y="5"/>
                  <a:pt x="592" y="4"/>
                  <a:pt x="590" y="4"/>
                </a:cubicBezTo>
                <a:lnTo>
                  <a:pt x="4" y="4"/>
                </a:lnTo>
                <a:cubicBezTo>
                  <a:pt x="2" y="4"/>
                  <a:pt x="0" y="5"/>
                  <a:pt x="0" y="7"/>
                </a:cubicBezTo>
                <a:cubicBezTo>
                  <a:pt x="0" y="3"/>
                  <a:pt x="4" y="0"/>
                  <a:pt x="8" y="0"/>
                </a:cubicBezTo>
                <a:lnTo>
                  <a:pt x="586" y="0"/>
                </a:lnTo>
                <a:close/>
              </a:path>
            </a:pathLst>
          </a:custGeom>
          <a:solidFill>
            <a:srgbClr val="C0392B"/>
          </a:solidFill>
          <a:ln/>
        </p:spPr>
        <p:txBody>
          <a:bodyPr/>
          <a:p/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6286500" y="243840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0392B"/>
                </a:solidFill>
                <a:latin typeface="Microsoft YaHei"/>
                <a:ea typeface="Microsoft YaHei"/>
              </a:rPr>
              <a:t>深度学习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7105650" y="2457450"/>
            <a:ext cx="428625" cy="1905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7200900" y="2476500"/>
            <a:ext cx="238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6286500" y="2733675"/>
            <a:ext cx="53911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MLP</a:t>
            </a:r>
            <a:r>
              <a:rPr lang="zh-CN" sz="1013">
                <a:solidFill>
                  <a:srgbClr val="4A5568"/>
                </a:solidFill>
                <a:latin typeface="Microsoft YaHei"/>
                <a:ea typeface="Microsoft YaHei"/>
              </a:rPr>
              <a:t>（小</a:t>
            </a: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/</a:t>
            </a:r>
            <a:r>
              <a:rPr lang="zh-CN" sz="1013">
                <a:solidFill>
                  <a:srgbClr val="4A5568"/>
                </a:solidFill>
                <a:latin typeface="Microsoft YaHei"/>
                <a:ea typeface="Microsoft YaHei"/>
              </a:rPr>
              <a:t>中</a:t>
            </a: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/</a:t>
            </a:r>
            <a:r>
              <a:rPr lang="zh-CN" sz="1013">
                <a:solidFill>
                  <a:srgbClr val="4A5568"/>
                </a:solidFill>
                <a:latin typeface="Microsoft YaHei"/>
                <a:ea typeface="Microsoft YaHei"/>
              </a:rPr>
              <a:t>深）·</a:t>
            </a: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 xml:space="preserve"> TabNet · TabNet-Deep · FT-Transformer</a:t>
            </a:r>
            <a:r>
              <a:rPr lang="zh-CN" sz="1013">
                <a:solidFill>
                  <a:srgbClr val="4A5568"/>
                </a:solidFill>
                <a:latin typeface="Microsoft YaHei"/>
                <a:ea typeface="Microsoft YaHei"/>
              </a:rPr>
              <a:t>（自研实现）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381000" y="3638550"/>
            <a:ext cx="3733800" cy="1085850"/>
          </a:xfrm>
          <a:prstGeom prst="roundRect">
            <a:avLst>
              <a:gd name="adj" fmla="val 7018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297" name=""/>
          <p:cNvSpPr/>
          <p:nvPr/>
        </p:nvSpPr>
        <p:spPr>
          <a:xfrm rot="0" flipH="0" flipV="0">
            <a:off x="381000" y="3638550"/>
            <a:ext cx="3733800" cy="1085850"/>
          </a:xfrm>
          <a:custGeom>
            <a:pathLst>
              <a:path w="392" h="114">
                <a:moveTo>
                  <a:pt x="384" y="0"/>
                </a:moveTo>
                <a:cubicBezTo>
                  <a:pt x="388" y="0"/>
                  <a:pt x="391" y="3"/>
                  <a:pt x="392" y="7"/>
                </a:cubicBezTo>
                <a:cubicBezTo>
                  <a:pt x="391" y="5"/>
                  <a:pt x="390" y="4"/>
                  <a:pt x="388" y="4"/>
                </a:cubicBezTo>
                <a:lnTo>
                  <a:pt x="4" y="4"/>
                </a:lnTo>
                <a:cubicBezTo>
                  <a:pt x="2" y="4"/>
                  <a:pt x="0" y="5"/>
                  <a:pt x="0" y="7"/>
                </a:cubicBezTo>
                <a:cubicBezTo>
                  <a:pt x="0" y="3"/>
                  <a:pt x="4" y="0"/>
                  <a:pt x="8" y="0"/>
                </a:cubicBezTo>
                <a:lnTo>
                  <a:pt x="384" y="0"/>
                </a:lnTo>
                <a:close/>
              </a:path>
            </a:pathLst>
          </a:custGeom>
          <a:solidFill>
            <a:srgbClr val="8E44AD"/>
          </a:solidFill>
          <a:ln/>
        </p:spPr>
        <p:txBody>
          <a:bodyPr/>
          <a:p/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514350" y="3771900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8E44AD"/>
                </a:solidFill>
                <a:latin typeface="Microsoft YaHei"/>
                <a:ea typeface="Microsoft YaHei"/>
              </a:rPr>
              <a:t>集成之集成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1514475" y="3790950"/>
            <a:ext cx="428625" cy="190500"/>
          </a:xfrm>
          <a:prstGeom prst="roundRect">
            <a:avLst>
              <a:gd name="adj" fmla="val 50000"/>
            </a:avLst>
          </a:prstGeom>
          <a:solidFill>
            <a:srgbClr val="8E44AD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609725" y="3810000"/>
            <a:ext cx="238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514350" y="4067175"/>
            <a:ext cx="346710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4A5568"/>
                </a:solidFill>
                <a:latin typeface="Microsoft YaHei"/>
                <a:ea typeface="Microsoft YaHei"/>
              </a:rPr>
              <a:t>软投票</a:t>
            </a: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Stacking</a:t>
            </a:r>
            <a:r>
              <a:rPr lang="zh-CN" sz="1013">
                <a:solidFill>
                  <a:srgbClr val="4A5568"/>
                </a:solidFill>
                <a:latin typeface="Microsoft YaHei"/>
                <a:ea typeface="Microsoft YaHei"/>
              </a:rPr>
              <a:t>（折内元特征，天生无泄漏）·</a:t>
            </a: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 xml:space="preserve"> Super Learner</a:t>
            </a:r>
            <a:r>
              <a:rPr lang="zh-CN" sz="1013">
                <a:solidFill>
                  <a:srgbClr val="4A5568"/>
                </a:solidFill>
                <a:latin typeface="Microsoft YaHei"/>
                <a:ea typeface="Microsoft YaHei"/>
              </a:rPr>
              <a:t>（非负权重）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4229100" y="3638550"/>
            <a:ext cx="3733800" cy="1085850"/>
          </a:xfrm>
          <a:prstGeom prst="roundRect">
            <a:avLst>
              <a:gd name="adj" fmla="val 7018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03" name=""/>
          <p:cNvSpPr/>
          <p:nvPr/>
        </p:nvSpPr>
        <p:spPr>
          <a:xfrm rot="0" flipH="0" flipV="0">
            <a:off x="4229100" y="3638550"/>
            <a:ext cx="3733800" cy="1085850"/>
          </a:xfrm>
          <a:custGeom>
            <a:pathLst>
              <a:path w="392" h="114">
                <a:moveTo>
                  <a:pt x="384" y="0"/>
                </a:moveTo>
                <a:cubicBezTo>
                  <a:pt x="388" y="0"/>
                  <a:pt x="391" y="3"/>
                  <a:pt x="392" y="7"/>
                </a:cubicBezTo>
                <a:cubicBezTo>
                  <a:pt x="391" y="5"/>
                  <a:pt x="390" y="4"/>
                  <a:pt x="388" y="4"/>
                </a:cubicBezTo>
                <a:lnTo>
                  <a:pt x="4" y="4"/>
                </a:lnTo>
                <a:cubicBezTo>
                  <a:pt x="2" y="4"/>
                  <a:pt x="0" y="5"/>
                  <a:pt x="0" y="7"/>
                </a:cubicBezTo>
                <a:cubicBezTo>
                  <a:pt x="0" y="3"/>
                  <a:pt x="4" y="0"/>
                  <a:pt x="8" y="0"/>
                </a:cubicBezTo>
                <a:lnTo>
                  <a:pt x="384" y="0"/>
                </a:lnTo>
                <a:close/>
              </a:path>
            </a:pathLst>
          </a:custGeom>
          <a:solidFill>
            <a:srgbClr val="7F8C8D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4362450" y="377190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7F8C8D"/>
                </a:solidFill>
                <a:latin typeface="Microsoft YaHei"/>
                <a:ea typeface="Microsoft YaHei"/>
              </a:rPr>
              <a:t>筛选消融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5181600" y="3790950"/>
            <a:ext cx="428625" cy="190500"/>
          </a:xfrm>
          <a:prstGeom prst="roundRect">
            <a:avLst>
              <a:gd name="adj" fmla="val 50000"/>
            </a:avLst>
          </a:prstGeom>
          <a:solidFill>
            <a:srgbClr val="7F8C8D"/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5276850" y="3810000"/>
            <a:ext cx="238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r>
              <a:rPr lang="en-US" sz="9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b="1">
                <a:solidFill>
                  <a:srgbClr val="FFFFFF"/>
                </a:solidFill>
                <a:latin typeface="Microsoft YaHei"/>
                <a:ea typeface="Microsoft YaHei"/>
              </a:rPr>
              <a:t>个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4362450" y="4067175"/>
            <a:ext cx="346710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 xml:space="preserve">SVM/XGBoost/MLP/RF </a:t>
            </a:r>
            <a:r>
              <a:rPr lang="zh-CN" sz="1013">
                <a:solidFill>
                  <a:srgbClr val="4A5568"/>
                </a:solidFill>
                <a:latin typeface="Microsoft YaHei"/>
                <a:ea typeface="Microsoft YaHei"/>
              </a:rPr>
              <a:t>的</a:t>
            </a: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013">
                <a:solidFill>
                  <a:srgbClr val="4A5568"/>
                </a:solidFill>
                <a:latin typeface="Microsoft YaHei"/>
                <a:ea typeface="Microsoft YaHei"/>
              </a:rPr>
              <a:t>单变量筛选版</a:t>
            </a:r>
            <a:r>
              <a:rPr lang="en-US" sz="1013">
                <a:solidFill>
                  <a:srgbClr val="4A5568"/>
                </a:solidFill>
                <a:latin typeface="Microsoft YaHei"/>
                <a:ea typeface="Microsoft YaHei"/>
              </a:rPr>
              <a:t>"</a:t>
            </a:r>
            <a:r>
              <a:rPr lang="zh-CN" sz="1013">
                <a:solidFill>
                  <a:srgbClr val="4A5568"/>
                </a:solidFill>
                <a:latin typeface="Microsoft YaHei"/>
                <a:ea typeface="Microsoft YaHei"/>
              </a:rPr>
              <a:t>，用于量化特征筛选的得失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8077200" y="3600450"/>
            <a:ext cx="3733800" cy="1123950"/>
          </a:xfrm>
          <a:prstGeom prst="roundRect">
            <a:avLst>
              <a:gd name="adj" fmla="val 6780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8210550" y="3781425"/>
            <a:ext cx="3467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含已发表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LASSO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基线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8210550" y="4057650"/>
            <a:ext cx="346710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DCE6F5"/>
                </a:solidFill>
                <a:latin typeface="Microsoft YaHei"/>
                <a:ea typeface="Microsoft YaHei"/>
              </a:rPr>
              <a:t>与</a:t>
            </a:r>
            <a:r>
              <a:rPr lang="en-US" sz="1013">
                <a:solidFill>
                  <a:srgbClr val="DCE6F5"/>
                </a:solidFill>
                <a:latin typeface="Microsoft YaHei"/>
                <a:ea typeface="Microsoft YaHei"/>
              </a:rPr>
              <a:t xml:space="preserve"> Jiang et al. QIMS 2025 </a:t>
            </a:r>
            <a:r>
              <a:rPr lang="zh-CN" sz="1013">
                <a:solidFill>
                  <a:srgbClr val="DCE6F5"/>
                </a:solidFill>
                <a:latin typeface="Microsoft YaHei"/>
                <a:ea typeface="Microsoft YaHei"/>
              </a:rPr>
              <a:t>完全同源的列线图方法，作为参照系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381000" y="4857750"/>
            <a:ext cx="11430000" cy="476250"/>
          </a:xfrm>
          <a:prstGeom prst="roundRect">
            <a:avLst>
              <a:gd name="adj" fmla="val 16000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571500" y="5000625"/>
            <a:ext cx="72294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E3F8C"/>
                </a:solidFill>
                <a:latin typeface="Microsoft YaHei"/>
                <a:ea typeface="Microsoft YaHei"/>
              </a:rPr>
              <a:t>全部</a:t>
            </a:r>
            <a:r>
              <a:rPr lang="en-US" sz="1200">
                <a:solidFill>
                  <a:srgbClr val="0E3F8C"/>
                </a:solidFill>
                <a:latin typeface="Microsoft YaHei"/>
                <a:ea typeface="Microsoft YaHei"/>
              </a:rPr>
              <a:t xml:space="preserve"> 37 </a:t>
            </a:r>
            <a:r>
              <a:rPr lang="zh-CN" sz="1200">
                <a:solidFill>
                  <a:srgbClr val="0E3F8C"/>
                </a:solidFill>
                <a:latin typeface="Microsoft YaHei"/>
                <a:ea typeface="Microsoft YaHei"/>
              </a:rPr>
              <a:t>个模型使用同一套数据划分、同一种预处理管道、同一随机种子</a:t>
            </a:r>
            <a:r>
              <a:rPr lang="en-US" sz="1200">
                <a:solidFill>
                  <a:srgbClr val="0E3F8C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200">
                <a:solidFill>
                  <a:srgbClr val="0E3F8C"/>
                </a:solidFill>
                <a:latin typeface="Microsoft YaHei"/>
                <a:ea typeface="Microsoft YaHei"/>
              </a:rPr>
              <a:t>唯一的变量是</a:t>
            </a:r>
            <a:r>
              <a:rPr lang="en-US" sz="1200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0E3F8C"/>
                </a:solidFill>
                <a:latin typeface="Microsoft YaHei"/>
                <a:ea typeface="Microsoft YaHei"/>
              </a:rPr>
              <a:t>建模方法本身</a:t>
            </a:r>
            <a:r>
              <a:rPr lang="en-US" sz="1200">
                <a:solidFill>
                  <a:srgbClr val="0E3F8C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0" y="6486525"/>
            <a:ext cx="12192000" cy="3714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14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381000" y="660082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南京医科大学第一附属医院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心律失常团队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11334750" y="65913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07 / 15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17" name="" descr="&lt;Slide style={{ width: 1280, height: 720, background: '#FFFFFF', flexDirection: 'column', fontFamily: '&quot;Microsoft YaHei&quot;,&quot;Source Han Sans SC&quot;,&quot;Noto Sans SC&quot;,sans-serif' }}&gt;&#10;  &lt;Box style={{ height: 80, background: '#1E4FA8', flexDirection: 'row', alignItems: 'center', justifyContent: 'space-between', paddingLeft: 40, paddingRight: 40 }}&gt;&#10;    &lt;Text style={{ fontSize: 26, fontWeight: 'bold', color: '#FFFFFF' }}&gt;三段式评测：先广筛，再精调，最后交叉验证稳健性&lt;/Text&gt;&#10;    &lt;Text style={{ fontSize: 14, color: 'rgba(255,255,255,0.75)' }}&gt;CRT 应答预测 · AI 模型基准对比&lt;/Text&gt;&#10;  &lt;/Box&gt;&#10;  &lt;Box style={{ flex: 1, paddingLeft: 40, paddingRight: 40, paddingTop: 20, paddingBottom: 20, background: '#FFFFFF' }}&gt;&#10;    &lt;svg width={1200} height={196} viewBox='0 0 1200 210'&gt;&#10;      &lt;rect x='8' y='20' width='360' height='150' rx='10' fill='#F0F5FC' stroke='#1E4FA8' strokeWidth='1.5' /&gt;&#10;      &lt;text x='188' y='52' textAnchor='middle' fontSize='19' fontWeight='bold' fill='#0E3F8C'&gt;Stage A · 全模型广筛&lt;/text&gt;&#10;      &lt;text x='188' y='82' textAnchor='middle' fontSize='14' fill='#4A5568'&gt;37 模型 × 5 折 × 5 次重复分层 CV&lt;/text&gt;&#10;      &lt;text x='188' y='106' textAnchor='middle' fontSize='14' fill='#4A5568'&gt;固定超参，同一套划分公平排队&lt;/text&gt;&#10;      &lt;text x='188' y='138' textAnchor='middle' fontSize='13' fill='#8B97A8'&gt;产出：总榜 / 家族对比 / Friedman 检验&lt;/text&gt;&#10;      &lt;line x1='372' y1='95' x2='408' y2='95' stroke='#8B97A8' strokeWidth='2' /&gt;&#10;      &lt;polygon points='408,88 420,95 408,102' fill='#8B97A8' /&gt;&#10;      &lt;rect x='424' y='20' width='360' height='150' rx='10' fill='#1E4FA8' stroke='#1E4FA8' strokeWidth='1.5' /&gt;&#10;      &lt;text x='604' y='52' textAnchor='middle' fontSize='19' fontWeight='bold' fill='#FFFFFF'&gt;Stage B · 嵌套调参&lt;/text&gt;&#10;      &lt;text x='604' y='82' textAnchor='middle' fontSize='14' fill='#DCE6F5'&gt;总榜前 8 名进入内层 3 折网格搜索&lt;/text&gt;&#10;      &lt;text x='604' y='106' textAnchor='middle' fontSize='14' fill='#DCE6F5'&gt;调参只发生在训练折内，无泄漏&lt;/text&gt;&#10;      &lt;text x='604' y='138' textAnchor='middle' fontSize='13' fill='rgba(255,255,255,0.7)'&gt;产出：最终排名 / 三重显著性比较&lt;/text&gt;&#10;      &lt;line x1='788' y1='95' x2='824' y2='95' stroke='#8B97A8' strokeWidth='2' /&gt;&#10;      &lt;polygon points='824,88 836,95 824,102' fill='#8B97A8' /&gt;&#10;      &lt;rect x='840' y='20' width='352' height='150' rx='10' fill='#F0F5FC' stroke='#1E4FA8' strokeWidth='1.5' /&gt;&#10;      &lt;text x='1016' y='52' textAnchor='middle' fontSize='19' fontWeight='bold' fill='#0E3F8C'&gt;Stage C · 稳健性确认&lt;/text&gt;&#10;      &lt;text x='1016' y='82' textAnchor='middle' fontSize='14' fill='#4A5568'&gt;留一法 LOOCV · 100 次蒙特卡洛留出&lt;/text&gt;&#10;      &lt;text x='1016' y='106' textAnchor='middle' fontSize='14' fill='#4A5568'&gt;Bootstrap 乐观度校正 · 5 种子重复 CV&lt;/text&gt;&#10;      &lt;text x='1016' y='138' textAnchor='middle' fontSize='13' fill='#8B97A8'&gt;产出：结论在 4 种重采样下是否一致&lt;/text&gt;&#10;    &lt;/svg&gt;&#10;    &lt;Box style={{ flexDirection: 'row', gap: 14, marginTop: 14 }}&gt;&#10;      &lt;Box style={{ flex: 1, background: '#F7F9FC', border: '1px solid #D6DCE5', borderRadius: 8, padding: 14, height: 162 }}&gt;&#10;        &lt;Text style={{ fontSize: 17, fontWeight: 'bold', color: '#0E3F8C' }}&gt;三重显著性口径&lt;/Text&gt;&#10;        &lt;Text style={{ fontSize: 14, color: '#4A5568', lineHeight: 1.7, marginTop: 8 }}&gt;&#10;          ① Friedman 总括 + Nemenyi 事后检验（37 模型整体排序，Demšar 2006）&lt;br /&gt;&#10;          ② 折级配对 Wilcoxon + Holm 校正（同一外层折配对）&lt;br /&gt;&#10;          ③ 池化折外预测 DeLong 检验（患者层面、阈值无关）&#10;        &lt;/Text&gt;&#10;      &lt;/Box&gt;&#10;      &lt;Box style={{ flex: 1, background: '#F7F9FC', border: '1px solid #D6DCE5', borderRadius: 8, padding: 14, height: 162 }}&gt;&#10;        &lt;Text style={{ fontSize: 17, fontWeight: 'bold', color: '#0E3F8C' }}&gt;指标覆盖四个维度&lt;/Text&gt;&#10;        &lt;Text style={{ fontSize: 14, color: '#4A5568', lineHeight: 1.7, marginTop: 8 }}&gt;&#10;          区分度：AUC · 平均精确率 · MCC&lt;br /&gt;&#10;          校准度：Brier · 校准斜率/截距 · ICI&lt;br /&gt;&#10;          阈值点：Youden 敏感性/特异性 · PPV · NPV&lt;br /&gt;&#10;          临床效用：决策曲线净收益（5%–95% 阈值网格均值）&#10;        &lt;/Text&gt;&#10;      &lt;/Box&gt;&#10;    &lt;/Box&gt;&#10;    &lt;Box style={{ marginTop: 10, height: 48, background: '#0E3F8C', borderRadius: 8, flexDirection: 'row', alignItems: 'center', paddingLeft: 20, paddingRight: 20 }}&gt;&#10;      &lt;Text style={{ fontSize: 16, color: '#FFFFFF' }}&gt;防泄漏三件套：预处理内嵌管道 · 单变量筛选只在训练折 · 调参在外层 CV 内部再嵌套一层&lt;/Text&gt;&#10;    &lt;/Box&gt;&#10;  &lt;/Box&gt;&#10;  &lt;Box style={{ height: 40, flexDirection: 'row', alignItems: 'center', justifyContent: 'space-between', paddingLeft: 40, paddingRight: 40, borderTop: '1px solid #E5E7EB', background: '#F7F9FC' }}&gt;&#10;    &lt;Text style={{ fontSize: 13, color: '#8B97A8' }}&gt;南京医科大学第一附属医院 · 心律失常团队&lt;/Text&gt;&#10;    &lt;Text style={{ fontSize: 14, fontWeight: 'bold', color: '#1E4FA8' }}&gt;08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9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56959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三段式评测：先广筛，再精调，最后交叉验证稳健性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9896475" y="304800"/>
            <a:ext cx="1914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CRT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应答预测</a:t>
            </a:r>
            <a:r>
              <a:rPr lang="en-US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· AI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模型基准对比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0" y="762000"/>
            <a:ext cx="12192000" cy="5715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1000" y="952500"/>
            <a:ext cx="11430000" cy="1866900"/>
          </a:xfrm>
          <a:prstGeom prst="rect">
            <a:avLst/>
          </a:prstGeom>
          <a:ln/>
        </p:spPr>
      </p:pic>
      <p:sp>
        <p:nvSpPr>
          <p:cNvPr id="324" name=""/>
          <p:cNvSpPr/>
          <p:nvPr/>
        </p:nvSpPr>
        <p:spPr>
          <a:xfrm rot="0" flipH="0" flipV="0">
            <a:off x="381000" y="2952750"/>
            <a:ext cx="5648325" cy="1543050"/>
          </a:xfrm>
          <a:prstGeom prst="roundRect">
            <a:avLst>
              <a:gd name="adj" fmla="val 493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514350" y="3086100"/>
            <a:ext cx="5381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三重显著性口径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514350" y="3362325"/>
            <a:ext cx="5381625" cy="8191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① Friedman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总括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+ Nemenyi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事后检验（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37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模型整体排序，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Demšar 2006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）</a:t>
            </a:r>
            <a:endParaRPr/>
          </a:p>
          <a:p>
            <a:pPr>
              <a:lnSpc>
                <a:spcPct val="17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②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折级配对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Wilcoxon + Holm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校正（同一外层折配对）</a:t>
            </a:r>
            <a:endParaRPr/>
          </a:p>
          <a:p>
            <a:pPr>
              <a:lnSpc>
                <a:spcPct val="17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③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池化折外预测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DeLong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检验（患者层面、阈值无关）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6162675" y="2952750"/>
            <a:ext cx="5648325" cy="1543050"/>
          </a:xfrm>
          <a:prstGeom prst="roundRect">
            <a:avLst>
              <a:gd name="adj" fmla="val 4938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6296025" y="3086100"/>
            <a:ext cx="5381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指标覆盖四个维度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6296025" y="3362325"/>
            <a:ext cx="5381625" cy="1095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区分度：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AUC ·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平均精确率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MCC</a:t>
            </a:r>
            <a:endParaRPr/>
          </a:p>
          <a:p>
            <a:pPr>
              <a:lnSpc>
                <a:spcPct val="17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校准度：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Brier ·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校准斜率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截距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ICI</a:t>
            </a:r>
            <a:endParaRPr/>
          </a:p>
          <a:p>
            <a:pPr>
              <a:lnSpc>
                <a:spcPct val="17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阈值点：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Youden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敏感性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>/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特异性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· PPV · NPV</a:t>
            </a:r>
            <a:endParaRPr/>
          </a:p>
          <a:p>
            <a:pPr>
              <a:lnSpc>
                <a:spcPct val="17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临床效用：决策曲线净收益（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5%–95%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阈值网格均值）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381000" y="4591050"/>
            <a:ext cx="11430000" cy="457200"/>
          </a:xfrm>
          <a:prstGeom prst="roundRect">
            <a:avLst>
              <a:gd name="adj" fmla="val 16667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571500" y="4724400"/>
            <a:ext cx="6038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防泄漏三件套：预处理内嵌管道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单变量筛选只在训练折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调参在外层</a:t>
            </a:r>
            <a:r>
              <a:rPr lang="en-US" sz="1200">
                <a:solidFill>
                  <a:srgbClr val="FFFFFF"/>
                </a:solidFill>
                <a:latin typeface="Microsoft YaHei"/>
                <a:ea typeface="Microsoft YaHei"/>
              </a:rPr>
              <a:t xml:space="preserve"> CV </a:t>
            </a:r>
            <a:r>
              <a:rPr lang="zh-CN" sz="1200">
                <a:solidFill>
                  <a:srgbClr val="FFFFFF"/>
                </a:solidFill>
                <a:latin typeface="Microsoft YaHei"/>
                <a:ea typeface="Microsoft YaHei"/>
              </a:rPr>
              <a:t>内部再嵌套一层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0" y="6486525"/>
            <a:ext cx="12192000" cy="3714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333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381000" y="660082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南京医科大学第一附属医院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心律失常团队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11334750" y="65913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08 / 15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336" name="" descr="&lt;Slide style={{ width: 1280, height: 720, background: '#FFFFFF', paddingLeft: 80, paddingRight: 80, justifyContent: 'center', fontFamily: '&quot;Microsoft YaHei&quot;,&quot;Source Han Sans SC&quot;,&quot;Noto Sans SC&quot;,sans-serif' }}&gt;&#10;  &lt;Box style={{ flexDirection: 'row', alignItems: 'center' }}&gt;&#10;    &lt;Text style={{ fontSize: 190, fontWeight: 'bold', color: '#E8EFF8', lineHeight: 1 }}&gt;03&lt;/Text&gt;&#10;    &lt;Box style={{ marginLeft: 40, flex: 1 }}&gt;&#10;      &lt;Text style={{ fontSize: 15, color: '#3D7BD9', letterSpacing: 4 }}&gt;SECTION 03&lt;/Text&gt;&#10;      &lt;Text style={{ fontSize: 42, fontWeight: 'bold', color: '#0E3F8C', marginTop: 10 }}&gt;结果与发现&lt;/Text&gt;&#10;      &lt;Box style={{ width: 72, height: 5, background: '#1E4FA8', marginTop: 18 }} /&gt;&#10;    &lt;/Box&gt;&#10;  &lt;/Box&gt;&#10;  &lt;Box style={{ marginTop: 56, gap: 18 }}&gt;&#10;    &lt;Box style={{ flexDirection: 'row', alignItems: 'center', background: '#F0F5FC', borderRadius: 8, paddingLeft: 24, paddingRight: 24, paddingTop: 16, paddingBottom: 16 }}&gt;&#10;      &lt;Box style={{ width: 10, height: 10, borderRadius: 5, background: '#1E4FA8' }} /&gt;&#10;      &lt;Text style={{ fontSize: 20, color: '#1A2230', marginLeft: 18 }}&gt;37 模型总榜：LDA_Shrinkage 以 0.809 居首，已发表基线列第 19 位&lt;/Text&gt;&#10;    &lt;/Box&gt;&#10;    &lt;Box style={{ flexDirection: 'row', alignItems: 'center', background: '#F0F5FC', borderRadius: 8, paddingLeft: 24, paddingRight: 24, paddingTop: 16, paddingBottom: 16 }}&gt;&#10;      &lt;Box style={{ width: 10, height: 10, borderRadius: 5, background: '#1E4FA8' }} /&gt;&#10;      &lt;Text style={{ fontSize: 20, color: '#1A2230', marginLeft: 18 }}&gt;Friedman + Nemenyi：5 个模型显著优于基线，4 个深度模型显著更差&lt;/Text&gt;&#10;    &lt;/Box&gt;&#10;    &lt;Box style={{ flexDirection: 'row', alignItems: 'center', background: '#F0F5FC', borderRadius: 8, paddingLeft: 24, paddingRight: 24, paddingTop: 16, paddingBottom: 16 }}&gt;&#10;      &lt;Box style={{ width: 10, height: 10, borderRadius: 5, background: '#1E4FA8' }} /&gt;&#10;      &lt;Text style={{ fontSize: 20, color: '#1A2230', marginLeft: 18 }}&gt;SHAP 可解释性：与已发表的临床叙事一致&lt;/Text&gt;&#10;    &lt;/Box&gt;&#10;  &lt;/Box&gt;&#10;  &lt;Box style={{ position: 'absolute', bottom: 0, left: 0, right: 0, height: 8, background: '#1E4FA8' }} /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762000" y="1104900"/>
            <a:ext cx="2238375" cy="2171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0" b="1">
                <a:solidFill>
                  <a:srgbClr val="E8EFF8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3381375" y="1704975"/>
            <a:ext cx="804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D7BD9"/>
                </a:solidFill>
                <a:latin typeface="Microsoft YaHei"/>
                <a:ea typeface="Microsoft YaHei"/>
              </a:rPr>
              <a:t>SECTION 03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3381375" y="1971675"/>
            <a:ext cx="8048625" cy="485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150" b="1">
                <a:solidFill>
                  <a:srgbClr val="0E3F8C"/>
                </a:solidFill>
                <a:latin typeface="Microsoft YaHei"/>
                <a:ea typeface="Microsoft YaHei"/>
              </a:rPr>
              <a:t>结果与发现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3381375" y="2628900"/>
            <a:ext cx="6858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2" name=""/>
          <p:cNvSpPr/>
          <p:nvPr/>
        </p:nvSpPr>
        <p:spPr>
          <a:xfrm rot="0" flipH="0" flipV="0">
            <a:off x="762000" y="3810000"/>
            <a:ext cx="10668000" cy="533400"/>
          </a:xfrm>
          <a:prstGeom prst="roundRect">
            <a:avLst>
              <a:gd name="adj" fmla="val 1428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43" name=""/>
          <p:cNvSpPr/>
          <p:nvPr/>
        </p:nvSpPr>
        <p:spPr>
          <a:xfrm rot="0" flipH="0" flipV="0">
            <a:off x="990600" y="40290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1257300" y="3962400"/>
            <a:ext cx="58864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37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模型总榜：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LDA_Shrinkage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以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0.809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居首，已发表基线列第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 19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位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762000" y="4514850"/>
            <a:ext cx="10668000" cy="533400"/>
          </a:xfrm>
          <a:prstGeom prst="roundRect">
            <a:avLst>
              <a:gd name="adj" fmla="val 1428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46" name=""/>
          <p:cNvSpPr/>
          <p:nvPr/>
        </p:nvSpPr>
        <p:spPr>
          <a:xfrm rot="0" flipH="0" flipV="0">
            <a:off x="990600" y="47339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1257300" y="4667250"/>
            <a:ext cx="6076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>Friedman + Nemenyi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：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5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个模型显著优于基线，</a:t>
            </a: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个深度模型显著更差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762000" y="5219700"/>
            <a:ext cx="10668000" cy="533400"/>
          </a:xfrm>
          <a:prstGeom prst="roundRect">
            <a:avLst>
              <a:gd name="adj" fmla="val 1428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349" name=""/>
          <p:cNvSpPr/>
          <p:nvPr/>
        </p:nvSpPr>
        <p:spPr>
          <a:xfrm rot="0" flipH="0" flipV="0">
            <a:off x="990600" y="5438775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1257300" y="5372100"/>
            <a:ext cx="3619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1A2230"/>
                </a:solidFill>
                <a:latin typeface="Microsoft YaHei"/>
                <a:ea typeface="Microsoft YaHei"/>
              </a:rPr>
              <a:t xml:space="preserve">SHAP </a:t>
            </a:r>
            <a:r>
              <a:rPr lang="zh-CN" sz="1500">
                <a:solidFill>
                  <a:srgbClr val="1A2230"/>
                </a:solidFill>
                <a:latin typeface="Microsoft YaHei"/>
                <a:ea typeface="Microsoft YaHei"/>
              </a:rPr>
              <a:t>可解释性：与已发表的临床叙事一致</a:t>
            </a:r>
            <a:endParaRPr/>
          </a:p>
        </p:txBody>
      </p:sp>
      <p:sp>
        <p:nvSpPr>
          <p:cNvPr id="351" name=""/>
          <p:cNvSpPr/>
          <p:nvPr/>
        </p:nvSpPr>
        <p:spPr>
          <a:xfrm rot="0" flipH="0" flipV="0">
            <a:off x="0" y="6781800"/>
            <a:ext cx="12192000" cy="762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a16="http://schemas.microsoft.com/office/drawing/2014/main" xmlns:mc="http://schemas.openxmlformats.org/markup-compatibility/2006" mc:Ignorable="a16">
  <p:cSld>
    <p:spTree>
      <p:nvGrpSpPr>
        <p:cNvPr id="15" name="" descr="&lt;Slide style={{ width: 1280, height: 720, background: '#FFFFFF', flexDirection: 'column', fontFamily: '&quot;Microsoft YaHei&quot;,&quot;Source Han Sans SC&quot;,&quot;Noto Sans SC&quot;,sans-serif' }}&gt;&#10;  &lt;Box style={{ height: 80, background: '#1E4FA8', flexDirection: 'row', alignItems: 'center', justifyContent: 'space-between', paddingLeft: 40, paddingRight: 40 }}&gt;&#10;    &lt;Text style={{ fontSize: 26, fontWeight: 'bold', color: '#FFFFFF' }}&gt;37 模型总榜：收缩判别分析居首，深度学习垫底&lt;/Text&gt;&#10;    &lt;Text style={{ fontSize: 14, color: 'rgba(255,255,255,0.75)' }}&gt;CRT 应答预测 · AI 模型基准对比&lt;/Text&gt;&#10;  &lt;/Box&gt;&#10;  &lt;Box style={{ flex: 1, paddingLeft: 40, paddingRight: 40, paddingTop: 18, paddingBottom: 18, background: '#FFFFFF', flexDirection: 'row', gap: 26 }}&gt;&#10;    &lt;Box style={{ width: 640 }}&gt;&#10;      &lt;Box style={{ flexDirection: 'row', alignItems: 'flex-end' }}&gt;&#10;        &lt;Text style={{ fontSize: 84, fontWeight: 'bold', color: '#1E4FA8', lineHeight: 1 }}&gt;0.809&lt;/Text&gt;&#10;        &lt;Box style={{ marginLeft: 20, marginBottom: 8 }}&gt;&#10;          &lt;Text style={{ fontSize: 21, fontWeight: 'bold', color: '#1A2230' }}&gt;LDA_Shrinkage 折均 AUC&lt;/Text&gt;&#10;          &lt;Text style={{ fontSize: 13, color: '#8B97A8', marginTop: 2 }}&gt;25 个外层折均值 ± SD 0.047&lt;/Text&gt;&#10;        &lt;/Box&gt;&#10;      &lt;/Box&gt;&#10;      &lt;Table&#10;        style={{ width: '100%', height: 350, marginTop: 10 }}&#10;        defaultTextStyle={{ fontSize: 14.5, textAlign: 'center', color: '#1A2230' }}&#10;        defaultCellStyle={{&#10;          border: {&#10;            left: { width: 1, color: '#E5E7EB' },&#10;            right: { width: 1, color: '#E5E7EB' },&#10;            top: { width: 1, color: '#E5E7EB' },&#10;            bottom: { width: 1, color: '#E5E7EB' },&#10;          },&#10;        }}&#10;        cells={[&#10;          [&#10;            { text: '#', textStyle: { bold: true, color: '#FFFFFF' }, cellStyle: { background: { color: '#1E4FA8' } } },&#10;            { text: '模型', textStyle: { bold: true, color: '#FFFFFF' }, cellStyle: { background: { color: '#1E4FA8' } } },&#10;            { text: '方法族', textStyle: { bold: true, color: '#FFFFFF' }, cellStyle: { background: { color: '#1E4FA8' } } },&#10;            { text: '折均 AUC', textStyle: { bold: true, color: '#FFFFFF' }, cellStyle: { background: { color: '#1E4FA8' } } },&#10;          ],&#10;          [&#10;            { text: '1', textStyle: { bold: true }, cellStyle: { background: { color: '#E8EFF8' } } },&#10;            { text: 'LDA_Shrinkage', textStyle: { bold: true }, cellStyle: { background: { color: '#E8EFF8' } } },&#10;            { text: '线性/正则', cellStyle: { background: { color: '#E8EFF8' } } },&#10;            { text: '0.809', textStyle: { bold: true, color: '#1E4FA8' }, cellStyle: { background: { color: '#E8EFF8' } } },&#10;          ],&#10;          ['2', 'Stacking_Logit', '集成之集成', '0.802'],&#10;          ['3', 'GaussianProcess_RBF', '核方法/贝叶斯', '0.801'],&#10;          ['4', 'SuperLearner_NNLS', '集成之集成', '0.800'],&#10;          ['5', 'SVM_linear', '核方法/贝叶斯', '0.800'],&#10;          ['6', 'SVM_poly', '核方法/贝叶斯', '0.797'],&#10;          ['7', 'ExtraTrees', '树模型与集成', '0.795'],&#10;          ['19', 'LASSO 基线（已发表）', '线性/正则', '0.746'],&#10;          ['33', 'TabNet_Deep', '深度学习', '0.616'],&#10;          ['37', 'MLP', '深度学习', '0.546'],&#10;        ]}&#10;      /&gt;&#10;    &lt;/Box&gt;&#10;    &lt;Box style={{ flex: 1, alignItems: 'center', justifyContent: 'center' }}&gt;&#10;      &lt;Box style={{ width: 470, background: '#FFFFFF', border: '1px solid #D6DCE5', borderRadius: 12, padding: 14 }}&gt;&#10;        &lt;Image src=&quot;assets/roc_37.png&quot; style={{ width: 442, height: 442, objectFit: 'contain' }} /&gt;&#10;        &lt;Text style={{ fontSize: 13, color: '#8B97A8', textAlign: 'center', marginTop: 8 }}&gt;前 12 名折外预测合并 ROC · 已发表 LASSO 基线折均 0.746，列第 19 / 37 位&lt;/Text&gt;&#10;      &lt;/Box&gt;&#10;    &lt;/Box&gt;&#10;  &lt;/Box&gt;&#10;  &lt;Box style={{ height: 40, flexDirection: 'row', alignItems: 'center', justifyContent: 'space-between', paddingLeft: 40, paddingRight: 40, borderTop: '1px solid #E5E7EB', background: '#F7F9FC' }}&gt;&#10;    &lt;Text style={{ fontSize: 13, color: '#8B97A8' }}&gt;南京医科大学第一附属医院 · 心律失常团队&lt;/Text&gt;&#10;    &lt;Text style={{ fontSize: 14, fontWeight: 'bold', color: '#1E4FA8' }}&gt;10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53340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37 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模型总榜：收缩判别分析居首，深度学习垫底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9896475" y="304800"/>
            <a:ext cx="1914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CRT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应答预测</a:t>
            </a:r>
            <a:r>
              <a:rPr lang="en-US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· AI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模型基准对比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0" y="762000"/>
            <a:ext cx="12192000" cy="5715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381000" y="933450"/>
            <a:ext cx="2209800" cy="962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300" b="1">
                <a:solidFill>
                  <a:srgbClr val="1E4FA8"/>
                </a:solidFill>
                <a:latin typeface="Microsoft YaHei"/>
                <a:ea typeface="Microsoft YaHei"/>
              </a:rPr>
              <a:t>0.809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2781300" y="1400175"/>
            <a:ext cx="2476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LDA_Shrinkage </a:t>
            </a:r>
            <a:r>
              <a:rPr lang="zh-CN" sz="1575" b="1">
                <a:solidFill>
                  <a:srgbClr val="1A2230"/>
                </a:solidFill>
                <a:latin typeface="Microsoft YaHei"/>
                <a:ea typeface="Microsoft YaHei"/>
              </a:rPr>
              <a:t>折均</a:t>
            </a:r>
            <a:r>
              <a:rPr lang="en-US" sz="157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AUC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2781300" y="1666875"/>
            <a:ext cx="2476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25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个外层折均值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± SD 0.047</a:t>
            </a:r>
            <a:endParaRPr/>
          </a:p>
        </p:txBody>
      </p:sp>
      <p:graphicFrame>
        <p:nvGraphicFramePr>
          <p:cNvPr id="24" name=""/>
          <p:cNvGraphicFramePr/>
          <p:nvPr/>
        </p:nvGraphicFramePr>
        <p:xfrm rot="0" flipH="0" flipV="0">
          <a:off x="381000" y="1990725"/>
          <a:ext cx="6096000" cy="3333750"/>
        </p:xfrm>
        <a:graphic>
          <a:graphicData uri="http://schemas.openxmlformats.org/drawingml/2006/table">
            <a:tbl>
              <a:tblGrid>
                <a:gridCol w="456704">
                  <a:extLst>
                    <a:ext uri="{9D8B030D-6E8A-4147-A177-3AD203B41FA5}">
                      <a16:colId val="1"/>
                    </a:ext>
                  </a:extLst>
                </a:gridCol>
                <a:gridCol w="2690580">
                  <a:extLst>
                    <a:ext uri="{9D8B030D-6E8A-4147-A177-3AD203B41FA5}">
                      <a16:colId val="2"/>
                    </a:ext>
                  </a:extLst>
                </a:gridCol>
                <a:gridCol w="1714293">
                  <a:extLst>
                    <a:ext uri="{9D8B030D-6E8A-4147-A177-3AD203B41FA5}">
                      <a16:colId val="3"/>
                    </a:ext>
                  </a:extLst>
                </a:gridCol>
                <a:gridCol w="1234423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30306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#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模型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方法族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折均 AUC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0306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LDA_Shrinkage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线性/正则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0.809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0306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Stacking_Logit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集成之集成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0.802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0306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GaussianProcess_RBF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核方法/贝叶斯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0.801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0306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SuperLearner_NNLS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集成之集成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0306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SVM_linear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核方法/贝叶斯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0.800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0306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SVM_poly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核方法/贝叶斯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0.797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30306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ExtraTrees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树模型与集成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0.795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30306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LASSO 基线（已发表）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线性/正则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0.746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  <a:tr h="30306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TabNet_Deep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深度学习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0.616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0"/>
                  </a:ext>
                </a:extLst>
              </a:tr>
              <a:tr h="30306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MLP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深度学习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0.546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1"/>
                  </a:ext>
                </a:extLst>
              </a:tr>
            </a:tbl>
          </a:graphicData>
        </a:graphic>
      </p:graphicFrame>
      <p:sp>
        <p:nvSpPr>
          <p:cNvPr id="25" name=""/>
          <p:cNvSpPr/>
          <p:nvPr/>
        </p:nvSpPr>
        <p:spPr>
          <a:xfrm rot="0" flipH="0" flipV="0">
            <a:off x="7029450" y="1190625"/>
            <a:ext cx="4476750" cy="485775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26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7162800" y="1323975"/>
            <a:ext cx="4210050" cy="4210050"/>
          </a:xfrm>
          <a:prstGeom prst="rect">
            <a:avLst/>
          </a:prstGeom>
          <a:ln/>
        </p:spPr>
      </p:pic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7162800" y="5610225"/>
            <a:ext cx="4210050" cy="3048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前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12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名折外预测合并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ROC ·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已发表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LASSO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基线折均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0.746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，列第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19 / 37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位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0" y="6486525"/>
            <a:ext cx="12192000" cy="3714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381000" y="660082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南京医科大学第一附属医院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心律失常团队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11334750" y="65913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10 / 15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a16="http://schemas.microsoft.com/office/drawing/2014/main" xmlns:mc="http://schemas.openxmlformats.org/markup-compatibility/2006" mc:Ignorable="a16">
  <p:cSld>
    <p:spTree>
      <p:nvGrpSpPr>
        <p:cNvPr id="32" name="" descr="&lt;Slide style={{ width: 1280, height: 720, background: '#FFFFFF', flexDirection: 'column', fontFamily: '&quot;Microsoft YaHei&quot;,&quot;Source Han Sans SC&quot;,&quot;Noto Sans SC&quot;,sans-serif' }}&gt;&#10;  &lt;Box style={{ height: 80, background: '#1E4FA8', flexDirection: 'row', alignItems: 'center', justifyContent: 'space-between', paddingLeft: 40, paddingRight: 40 }}&gt;&#10;    &lt;Text style={{ fontSize: 26, fontWeight: 'bold', color: '#FFFFFF' }}&gt;按方法族看：经典方法全面领先，深度学习整体掉队&lt;/Text&gt;&#10;    &lt;Text style={{ fontSize: 14, color: 'rgba(255,255,255,0.75)' }}&gt;CRT 应答预测 · AI 模型基准对比&lt;/Text&gt;&#10;  &lt;/Box&gt;&#10;  &lt;Box style={{ flex: 1, paddingLeft: 40, paddingRight: 40, paddingTop: 18, paddingBottom: 18, background: '#FFFFFF', flexDirection: 'row', gap: 26 }}&gt;&#10;    &lt;Box style={{ width: 560, alignItems: 'center' }}&gt;&#10;      &lt;Box style={{ width: 540, background: '#FFFFFF', border: '1px solid #D6DCE5', borderRadius: 12, padding: 10 }}&gt;&#10;        &lt;Image src=&quot;assets/family_boxplot.png&quot; style={{ width: 500, height: 534, objectFit: 'contain' }} /&gt;&#10;      &lt;/Box&gt;&#10;    &lt;/Box&gt;&#10;    &lt;Box style={{ flex: 1 }}&gt;&#10;      &lt;Table&#10;        style={{ width: '100%', height: 240 }}&#10;        defaultTextStyle={{ fontSize: 14.5, textAlign: 'center', color: '#1A2230' }}&#10;        defaultCellStyle={{&#10;          border: {&#10;            left: { width: 1, color: '#E5E7EB' },&#10;            right: { width: 1, color: '#E5E7EB' },&#10;            top: { width: 1, color: '#E5E7EB' },&#10;            bottom: { width: 1, color: '#E5E7EB' },&#10;          },&#10;        }}&#10;        cells={[&#10;          [&#10;            { text: '方法族', textStyle: { bold: true, color: '#FFFFFF' }, cellStyle: { background: { color: '#1E4FA8' } } },&#10;            { text: '模型数', textStyle: { bold: true, color: '#FFFFFF' }, cellStyle: { background: { color: '#1E4FA8' } } },&#10;            { text: '族均 AUC', textStyle: { bold: true, color: '#FFFFFF' }, cellStyle: { background: { color: '#1E4FA8' } } },&#10;            { text: '族内最佳', textStyle: { bold: true, color: '#FFFFFF' }, cellStyle: { background: { color: '#1E4FA8' } } },&#10;          ],&#10;          [&#10;            { text: '集成之集成', textStyle: { bold: true }, cellStyle: { background: { color: '#E8EFF8' } } },&#10;            { text: '3', cellStyle: { background: { color: '#E8EFF8' } } },&#10;            { text: '0.797', textStyle: { bold: true, color: '#1E4FA8' }, cellStyle: { background: { color: '#E8EFF8' } } },&#10;            { text: 'Stacking 0.802', cellStyle: { background: { color: '#E8EFF8' } } },&#10;          ],&#10;          ['核方法/贝叶斯', '5', '0.785', 'GP 0.801'],&#10;          ['线性/正则化', '10', '0.761', 'LDA_S 0.809'],&#10;          ['树模型与集成', '9', '0.728', 'ExtraTrees 0.795'],&#10;          ['筛选消融', '4', '0.685', 'SVM_rbf_s 0.739'],&#10;          [{ text: '深度学习', textStyle: { bold: true, color: '#D9534F' } }, { text: '6', textStyle: { color: '#D9534F' } }, { text: '0.627', textStyle: { bold: true, color: '#D9534F' } }, { text: 'FT-T 0.676', textStyle: { color: '#D9534F' } }],&#10;        ]}&#10;      /&gt;&#10;      &lt;Box style={{ marginTop: 12, background: '#F0F5FC', borderRadius: 8, padding: 13 }}&gt;&#10;        &lt;Text style={{ fontSize: 15, color: '#1A2230', lineHeight: 1.7 }}&gt;&#10;          &lt;Text style={{ fontWeight: 'bold', color: '#0E3F8C' }}&gt;读图要点　&lt;/Text&gt;&#10;          箱体为每个模型 25 个外层折的 AUC 分布（菱形=均值）。&lt;br /&gt;&#10;          领先梯队由&lt;span style={{ fontWeight: 'bold' }}&gt;集成之集成 + 核方法 + 收缩判别&lt;/span&gt;构成；&lt;br /&gt;&#10;          红色（深度学习）全部位于基线（0.746）以下，与文献中&quot;小样本表格数据深度学习无优势&quot;的系统证据一致。&#10;        &lt;/Text&gt;&#10;      &lt;/Box&gt;&#10;      &lt;Box style={{ marginTop: 10, background: '#FFF8E6', borderRadius: 8, padding: 10, border: '1px solid #F0DFA8' }}&gt;&#10;        &lt;Text style={{ fontSize: 14.5, color: '#7A6420' }}&gt;消融发现：单变量筛选对 SVM/RF 无增益（0.790→0.739 / 0.742→0.700）——强正则模型自己会处理弱特征&lt;/Text&gt;&#10;      &lt;/Box&gt;&#10;    &lt;/Box&gt;&#10;  &lt;/Box&gt;&#10;  &lt;Box style={{ height: 40, flexDirection: 'row', alignItems: 'center', justifyContent: 'space-between', paddingLeft: 40, paddingRight: 40, borderTop: '1px solid #E5E7EB', background: '#F7F9FC' }}&gt;&#10;    &lt;Text style={{ fontSize: 13, color: '#8B97A8' }}&gt;南京医科大学第一附属医院 · 心律失常团队&lt;/Text&gt;&#10;    &lt;Text style={{ fontSize: 14, fontWeight: 'bold', color: '#1E4FA8' }}&gt;11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56959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按方法族看：经典方法全面领先，深度学习整体掉队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9896475" y="304800"/>
            <a:ext cx="1914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CRT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应答预测</a:t>
            </a:r>
            <a:r>
              <a:rPr lang="en-US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· AI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模型基准对比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0" y="762000"/>
            <a:ext cx="12192000" cy="5715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476250" y="933450"/>
            <a:ext cx="5143500" cy="527685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39" name=""/>
          <p:cNvPicPr>
            <a:picLocks noChangeAspect="1"/>
          </p:cNvPicPr>
          <p:nvPr/>
        </p:nvPicPr>
        <p:blipFill>
          <a:blip r:embed="rId1"/>
          <a:srcRect l="0" t="19" r="0" b="19"/>
          <a:stretch>
            <a:fillRect/>
          </a:stretch>
        </p:blipFill>
        <p:spPr>
          <a:xfrm rot="0" flipH="0" flipV="0">
            <a:off x="571500" y="1028700"/>
            <a:ext cx="4762500" cy="5086350"/>
          </a:xfrm>
          <a:prstGeom prst="rect">
            <a:avLst/>
          </a:prstGeom>
          <a:ln/>
        </p:spPr>
      </p:pic>
      <p:graphicFrame>
        <p:nvGraphicFramePr>
          <p:cNvPr id="40" name=""/>
          <p:cNvGraphicFramePr/>
          <p:nvPr/>
        </p:nvGraphicFramePr>
        <p:xfrm rot="0" flipH="0" flipV="0">
          <a:off x="5962650" y="933450"/>
          <a:ext cx="5848350" cy="2286000"/>
        </p:xfrm>
        <a:graphic>
          <a:graphicData uri="http://schemas.openxmlformats.org/drawingml/2006/table">
            <a:tbl>
              <a:tblGrid>
                <a:gridCol w="1704809">
                  <a:extLst>
                    <a:ext uri="{9D8B030D-6E8A-4147-A177-3AD203B41FA5}">
                      <a16:colId val="1"/>
                    </a:ext>
                  </a:extLst>
                </a:gridCol>
                <a:gridCol w="882025">
                  <a:extLst>
                    <a:ext uri="{9D8B030D-6E8A-4147-A177-3AD203B41FA5}">
                      <a16:colId val="2"/>
                    </a:ext>
                  </a:extLst>
                </a:gridCol>
                <a:gridCol w="1227594">
                  <a:extLst>
                    <a:ext uri="{9D8B030D-6E8A-4147-A177-3AD203B41FA5}">
                      <a16:colId val="3"/>
                    </a:ext>
                  </a:extLst>
                </a:gridCol>
                <a:gridCol w="2033923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32657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方法族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模型数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族均 AUC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族内最佳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2657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集成之集成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0.797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Stacking 0.802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2657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核方法/贝叶斯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0.785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GP 0.801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2657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线性/正则化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10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0.761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LDA_S 0.809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2657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树模型与集成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0.728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ExtraTrees 0.795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2657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筛选消融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0.685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SVM_rbf_s 0.739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26571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深度学习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0.627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FT-T 0.676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41" name=""/>
          <p:cNvSpPr/>
          <p:nvPr/>
        </p:nvSpPr>
        <p:spPr>
          <a:xfrm rot="0" flipH="0" flipV="0">
            <a:off x="5962650" y="3333750"/>
            <a:ext cx="5848350" cy="1419225"/>
          </a:xfrm>
          <a:prstGeom prst="roundRect">
            <a:avLst>
              <a:gd name="adj" fmla="val 5369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6086475" y="3457575"/>
            <a:ext cx="5600700" cy="1171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读图要点　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箱体为每个模型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25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个外层折的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 xml:space="preserve"> AUC 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分布（菱形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=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均值）。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领先梯队由</a:t>
            </a:r>
            <a:r>
              <a:rPr lang="zh-CN" sz="1125" b="1">
                <a:solidFill>
                  <a:srgbClr val="1A2230"/>
                </a:solidFill>
                <a:latin typeface="Microsoft YaHei"/>
                <a:ea typeface="Microsoft YaHei"/>
              </a:rPr>
              <a:t>集成之集成</a:t>
            </a: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 b="1">
                <a:solidFill>
                  <a:srgbClr val="1A2230"/>
                </a:solidFill>
                <a:latin typeface="Microsoft YaHei"/>
                <a:ea typeface="Microsoft YaHei"/>
              </a:rPr>
              <a:t>核方法</a:t>
            </a:r>
            <a:r>
              <a:rPr lang="en-US" sz="1125" b="1">
                <a:solidFill>
                  <a:srgbClr val="1A2230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125" b="1">
                <a:solidFill>
                  <a:srgbClr val="1A2230"/>
                </a:solidFill>
                <a:latin typeface="Microsoft YaHei"/>
                <a:ea typeface="Microsoft YaHei"/>
              </a:rPr>
              <a:t>收缩判别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构成；</a:t>
            </a:r>
            <a:endParaRPr/>
          </a:p>
          <a:p>
            <a:pPr>
              <a:lnSpc>
                <a:spcPct val="170000"/>
              </a:lnSpc>
            </a:pP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红色（深度学习）全部位于基线（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0.746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）以下，与文献中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小样本表格数据深度学习无优势</a:t>
            </a:r>
            <a:r>
              <a:rPr lang="en-US" sz="1125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1A2230"/>
                </a:solidFill>
                <a:latin typeface="Microsoft YaHei"/>
                <a:ea typeface="Microsoft YaHei"/>
              </a:rPr>
              <a:t>的系统证据一致。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5962650" y="4848225"/>
            <a:ext cx="5848350" cy="523875"/>
          </a:xfrm>
          <a:prstGeom prst="roundRect">
            <a:avLst>
              <a:gd name="adj" fmla="val 14545"/>
            </a:avLst>
          </a:prstGeom>
          <a:solidFill>
            <a:srgbClr val="FFF8E6"/>
          </a:solidFill>
          <a:ln w="12700">
            <a:solidFill>
              <a:srgbClr val="F0DFA8"/>
            </a:solidFill>
            <a:prstDash val="solid"/>
          </a:ln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057900" y="4943475"/>
            <a:ext cx="5657850" cy="333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088">
                <a:solidFill>
                  <a:srgbClr val="7A6420"/>
                </a:solidFill>
                <a:latin typeface="Microsoft YaHei"/>
                <a:ea typeface="Microsoft YaHei"/>
              </a:rPr>
              <a:t>消融发现：单变量筛选对</a:t>
            </a:r>
            <a:r>
              <a:rPr lang="en-US" sz="1088">
                <a:solidFill>
                  <a:srgbClr val="7A6420"/>
                </a:solidFill>
                <a:latin typeface="Microsoft YaHei"/>
                <a:ea typeface="Microsoft YaHei"/>
              </a:rPr>
              <a:t xml:space="preserve"> SVM/RF </a:t>
            </a:r>
            <a:r>
              <a:rPr lang="zh-CN" sz="1088">
                <a:solidFill>
                  <a:srgbClr val="7A6420"/>
                </a:solidFill>
                <a:latin typeface="Microsoft YaHei"/>
                <a:ea typeface="Microsoft YaHei"/>
              </a:rPr>
              <a:t>无增益（</a:t>
            </a:r>
            <a:r>
              <a:rPr lang="en-US" sz="1088">
                <a:solidFill>
                  <a:srgbClr val="7A6420"/>
                </a:solidFill>
                <a:latin typeface="Microsoft YaHei"/>
                <a:ea typeface="Microsoft YaHei"/>
              </a:rPr>
              <a:t>0.790→0.739 / 0.742→0.700</a:t>
            </a:r>
            <a:r>
              <a:rPr lang="zh-CN" sz="1088">
                <a:solidFill>
                  <a:srgbClr val="7A6420"/>
                </a:solidFill>
                <a:latin typeface="Microsoft YaHei"/>
                <a:ea typeface="Microsoft YaHei"/>
              </a:rPr>
              <a:t>）——强正则模型自己会处理弱特征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0" y="6486525"/>
            <a:ext cx="12192000" cy="3714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46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381000" y="660082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南京医科大学第一附属医院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心律失常团队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1334750" y="65913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11 / 15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49" name="" descr="&lt;Slide style={{ width: 1280, height: 720, background: '#FFFFFF', flexDirection: 'column', fontFamily: '&quot;Microsoft YaHei&quot;,&quot;Source Han Sans SC&quot;,&quot;Noto Sans SC&quot;,sans-serif' }}&gt;&#10;  &lt;Box style={{ height: 80, background: '#1E4FA8', flexDirection: 'row', alignItems: 'center', justifyContent: 'space-between', paddingLeft: 40, paddingRight: 40 }}&gt;&#10;    &lt;Text style={{ fontSize: 26, fontWeight: 'bold', color: '#FFFFFF' }}&gt;这些差异是统计显著的，且用三种口径交叉验证&lt;/Text&gt;&#10;    &lt;Text style={{ fontSize: 14, color: 'rgba(255,255,255,0.75)' }}&gt;CRT 应答预测 · AI 模型基准对比&lt;/Text&gt;&#10;  &lt;/Box&gt;&#10;  &lt;Box style={{ flex: 1, paddingLeft: 40, paddingRight: 40, paddingTop: 18, paddingBottom: 18, background: '#FFFFFF', flexDirection: 'row', gap: 24 }}&gt;&#10;    &lt;Box style={{ width: 690 }}&gt;&#10;      &lt;Box style={{ height: 42, background: '#F0F5FC', borderRadius: 8, flexDirection: 'row', alignItems: 'center', paddingLeft: 16, paddingRight: 16 }}&gt;&#10;        &lt;Text style={{ fontSize: 16, fontWeight: 'bold', color: '#0E3F8C' }}&gt;Friedman 总括检验&lt;/Text&gt;&#10;        &lt;Text style={{ fontSize: 15, color: '#4A5568', marginLeft: 12 }}&gt;χ² = 489.3，p = 6.8e-81（37 模型 × 25 区组）→ 模型间差异整体存在&lt;/Text&gt;&#10;      &lt;/Box&gt;&#10;      &lt;Table&#10;        style={{ width: '100%', height: 300, marginTop: 12 }}&#10;        defaultTextStyle={{ fontSize: 14.5, textAlign: 'center', color: '#1A2230' }}&#10;        defaultCellStyle={{&#10;          border: {&#10;            left: { width: 1, color: '#E5E7EB' },&#10;            right: { width: 1, color: '#E5E7EB' },&#10;            top: { width: 1, color: '#E5E7EB' },&#10;            bottom: { width: 1, color: '#E5E7EB' },&#10;          },&#10;        }}&#10;        cells={[&#10;          [&#10;            { text: 'Nemenyi vs 基线（Holm 校正）', textStyle: { bold: true, color: '#FFFFFF' }, cellStyle: { background: { color: '#1E4FA8' } } },&#10;            { text: '平均秩', textStyle: { bold: true, color: '#FFFFFF' }, cellStyle: { background: { color: '#1E4FA8' } } },&#10;            { text: '基线平均秩 18.7', textStyle: { bold: true, color: '#FFFFFF' }, cellStyle: { background: { color: '#1E4FA8' } } },&#10;            { text: 'p (Holm)', textStyle: { bold: true, color: '#FFFFFF' }, cellStyle: { background: { color: '#1E4FA8' } } },&#10;          ],&#10;          [&#10;            { text: 'LDA_Shrinkage', textStyle: { bold: true }, cellStyle: { background: { color: '#E8EFF8' } } },&#10;            { text: '6.8', cellStyle: { background: { color: '#E8EFF8' } } },&#10;            { text: '显著更优', textStyle: { bold: true, color: '#1E4FA8' }, cellStyle: { background: { color: '#E8EFF8' } } },&#10;            { text: '0.0035', cellStyle: { background: { color: '#E8EFF8' } } },&#10;          ],&#10;          ['Stacking_Logit', '7.5', { text: '显著更优', textStyle: { bold: true, color: '#1E4FA8' } }, '0.0087'],&#10;          ['SuperLearner_NNLS', '8.1', { text: '显著更优', textStyle: { bold: true, color: '#1E4FA8' } }, '0.017'],&#10;          ['GaussianProcess_RBF', '8.2', { text: '显著更优', textStyle: { bold: true, color: '#1E4FA8' } }, '0.019'],&#10;          ['SVM_linear', '8.5', { text: '显著更优', textStyle: { bold: true, color: '#1E4FA8' } }, '0.025'],&#10;          ['MLP（最差）', '33.5', { text: '显著更差', textStyle: { bold: true, color: '#D9534F' } }, '&lt;0.001'],&#10;          ['TabNet_Deep / MLP_Small 等', '30–31', { text: '显著更差', textStyle: { bold: true, color: '#D9534F' } }, '0.001–0.005'],&#10;        ]}&#10;      /&gt;&#10;      &lt;Text style={{ fontSize: 14.5, color: '#4A5568', lineHeight: 1.7, marginTop: 12 }}&gt;&#10;        临界差 CD = 16.67：与基线平均秩相差超过 CD 的模型才判定显著。共 5 个模型显著更优，5 个模型（含 4 个深度模型）显著更差。&#10;      &lt;/Text&gt;&#10;    &lt;/Box&gt;&#10;    &lt;Box style={{ flex: 1 }}&gt;&#10;      &lt;Box style={{ background: '#F7F9FC', border: '1px solid #D6DCE5', borderRadius: 10, padding: 16, height: 210 }}&gt;&#10;        &lt;Text style={{ fontSize: 17, fontWeight: 'bold', color: '#0E3F8C' }}&gt;口径 ②：折级 Wilcoxon + Holm&lt;/Text&gt;&#10;        &lt;Text style={{ fontSize: 14.5, color: '#4A5568', lineHeight: 1.7, marginTop: 8 }}&gt;&#10;          Stage B 嵌套调参后，前 8 名全部显著优于基线：&lt;br /&gt;&#10;          ΔAUC = +0.037 ~ +0.057，&lt;br /&gt;&#10;          Holm 校正 p = 0.0036 ~ 0.049。&#10;        &lt;/Text&gt;&#10;      &lt;/Box&gt;&#10;      &lt;Box style={{ marginTop: 12, background: '#FFF8E6', border: '1px solid #F0DFA8', borderRadius: 10, padding: 16, height: 178 }}&gt;&#10;        &lt;Text style={{ fontSize: 17, fontWeight: 'bold', color: '#7A6420' }}&gt;口径 ③：患者层面 DeLong（诚实披露）&lt;/Text&gt;&#10;        &lt;Text style={{ fontSize: 14.5, color: '#7A6420', lineHeight: 1.65, marginTop: 8 }}&gt;&#10;          池化折外预测上 ΔAUC = 0.041 ~ 0.054，但 Holm 校正后 p = 0.12 ~ 0.26，未达显著。三种口径里它最保守——论文写作时按此口径陈述，避免过度声称。&#10;        &lt;/Text&gt;&#10;      &lt;/Box&gt;&#10;      &lt;Text style={{ fontSize: 13.5, color: '#8B97A8', lineHeight: 1.6, marginTop: 10 }}&gt;&#10;        校准补充：SuperLearner 斜率 1.00 / 截距 0.01（接近理想）；LDA_Shrinkage 斜率 0.63 偏保守，部署前宜再校准。&#10;      &lt;/Text&gt;&#10;    &lt;/Box&gt;&#10;  &lt;/Box&gt;&#10;  &lt;Box style={{ height: 40, flexDirection: 'row', alignItems: 'center', justifyContent: 'space-between', paddingLeft: 40, paddingRight: 40, borderTop: '1px solid #E5E7EB', background: '#F7F9FC' }}&gt;&#10;    &lt;Text style={{ fontSize: 13, color: '#8B97A8' }}&gt;南京医科大学第一附属医院 · 心律失常团队&lt;/Text&gt;&#10;    &lt;Text style={{ fontSize: 14, fontWeight: 'bold', color: '#1E4FA8' }}&gt;12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52006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这些差异是统计显著的，且用三种口径交叉验证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9896475" y="304800"/>
            <a:ext cx="1914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CRT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应答预测</a:t>
            </a:r>
            <a:r>
              <a:rPr lang="en-US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· AI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模型基准对比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0" y="762000"/>
            <a:ext cx="12192000" cy="5715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381000" y="933450"/>
            <a:ext cx="6572250" cy="400050"/>
          </a:xfrm>
          <a:prstGeom prst="roundRect">
            <a:avLst>
              <a:gd name="adj" fmla="val 19048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533400" y="1038225"/>
            <a:ext cx="1381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Friedman </a:t>
            </a:r>
            <a:r>
              <a:rPr lang="zh-CN" sz="1200" b="1">
                <a:solidFill>
                  <a:srgbClr val="0E3F8C"/>
                </a:solidFill>
                <a:latin typeface="Microsoft YaHei"/>
                <a:ea typeface="Microsoft YaHei"/>
              </a:rPr>
              <a:t>总括检验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2028825" y="1047750"/>
            <a:ext cx="4581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χ² = 489.3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>p = 6.8e-81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（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37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模型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× 25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区组）→</a:t>
            </a:r>
            <a:r>
              <a:rPr lang="en-US" sz="1125">
                <a:solidFill>
                  <a:srgbClr val="4A556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4A5568"/>
                </a:solidFill>
                <a:latin typeface="Microsoft YaHei"/>
                <a:ea typeface="Microsoft YaHei"/>
              </a:rPr>
              <a:t>模型间差异整体存在</a:t>
            </a:r>
            <a:endParaRPr/>
          </a:p>
        </p:txBody>
      </p:sp>
      <p:graphicFrame>
        <p:nvGraphicFramePr>
          <p:cNvPr id="58" name=""/>
          <p:cNvGraphicFramePr/>
          <p:nvPr/>
        </p:nvGraphicFramePr>
        <p:xfrm rot="0" flipH="0" flipV="0">
          <a:off x="381000" y="1447800"/>
          <a:ext cx="6572250" cy="2857500"/>
        </p:xfrm>
        <a:graphic>
          <a:graphicData uri="http://schemas.openxmlformats.org/drawingml/2006/table">
            <a:tbl>
              <a:tblGrid>
                <a:gridCol w="3065455">
                  <a:extLst>
                    <a:ext uri="{9D8B030D-6E8A-4147-A177-3AD203B41FA5}">
                      <a16:colId val="1"/>
                    </a:ext>
                  </a:extLst>
                </a:gridCol>
                <a:gridCol w="712525">
                  <a:extLst>
                    <a:ext uri="{9D8B030D-6E8A-4147-A177-3AD203B41FA5}">
                      <a16:colId val="2"/>
                    </a:ext>
                  </a:extLst>
                </a:gridCol>
                <a:gridCol w="1563302">
                  <a:extLst>
                    <a:ext uri="{9D8B030D-6E8A-4147-A177-3AD203B41FA5}">
                      <a16:colId val="3"/>
                    </a:ext>
                  </a:extLst>
                </a:gridCol>
                <a:gridCol w="1230968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3571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Nemenyi vs 基线（Holm 校正）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平均秩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基线平均秩 18.7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p (Holm)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571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LDA_Shrinkage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6.8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显著更优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0.0035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571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Stacking_Logit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7.5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显著更优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0.0087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571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SuperLearner_NNLS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8.1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显著更优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0.017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571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GaussianProcess_RBF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8.2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显著更优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0.019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571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SVM_linear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8.5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显著更优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0.025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571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MLP（最差）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33.5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显著更差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&lt;0.001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357188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TabNet_Deep / MLP_Small 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30–31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D9534F"/>
                          </a:solidFill>
                          <a:latin typeface="Microsoft YaHei"/>
                          <a:ea typeface="Microsoft YaHei"/>
                        </a:rPr>
                        <a:t>显著更差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0.001–0.005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</a:tbl>
          </a:graphicData>
        </a:graphic>
      </p:graphicFrame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381000" y="4419600"/>
            <a:ext cx="65722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088">
                <a:solidFill>
                  <a:srgbClr val="4A5568"/>
                </a:solidFill>
                <a:latin typeface="Microsoft YaHei"/>
                <a:ea typeface="Microsoft YaHei"/>
              </a:rPr>
              <a:t>临界差</a:t>
            </a:r>
            <a:r>
              <a:rPr lang="en-US" sz="1088">
                <a:solidFill>
                  <a:srgbClr val="4A5568"/>
                </a:solidFill>
                <a:latin typeface="Microsoft YaHei"/>
                <a:ea typeface="Microsoft YaHei"/>
              </a:rPr>
              <a:t xml:space="preserve"> CD = 16.67</a:t>
            </a:r>
            <a:r>
              <a:rPr lang="zh-CN" sz="1088">
                <a:solidFill>
                  <a:srgbClr val="4A5568"/>
                </a:solidFill>
                <a:latin typeface="Microsoft YaHei"/>
                <a:ea typeface="Microsoft YaHei"/>
              </a:rPr>
              <a:t>：与基线平均秩相差超过</a:t>
            </a:r>
            <a:r>
              <a:rPr lang="en-US" sz="1088">
                <a:solidFill>
                  <a:srgbClr val="4A5568"/>
                </a:solidFill>
                <a:latin typeface="Microsoft YaHei"/>
                <a:ea typeface="Microsoft YaHei"/>
              </a:rPr>
              <a:t xml:space="preserve"> CD </a:t>
            </a:r>
            <a:r>
              <a:rPr lang="zh-CN" sz="1088">
                <a:solidFill>
                  <a:srgbClr val="4A5568"/>
                </a:solidFill>
                <a:latin typeface="Microsoft YaHei"/>
                <a:ea typeface="Microsoft YaHei"/>
              </a:rPr>
              <a:t>的模型才判定显著。共</a:t>
            </a:r>
            <a:r>
              <a:rPr lang="en-US" sz="1088">
                <a:solidFill>
                  <a:srgbClr val="4A5568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088">
                <a:solidFill>
                  <a:srgbClr val="4A5568"/>
                </a:solidFill>
                <a:latin typeface="Microsoft YaHei"/>
                <a:ea typeface="Microsoft YaHei"/>
              </a:rPr>
              <a:t>个模型显著更优，</a:t>
            </a:r>
            <a:r>
              <a:rPr lang="en-US" sz="1088">
                <a:solidFill>
                  <a:srgbClr val="4A5568"/>
                </a:solidFill>
                <a:latin typeface="Microsoft YaHei"/>
                <a:ea typeface="Microsoft YaHei"/>
              </a:rPr>
              <a:t xml:space="preserve">5 </a:t>
            </a:r>
            <a:r>
              <a:rPr lang="zh-CN" sz="1088">
                <a:solidFill>
                  <a:srgbClr val="4A5568"/>
                </a:solidFill>
                <a:latin typeface="Microsoft YaHei"/>
                <a:ea typeface="Microsoft YaHei"/>
              </a:rPr>
              <a:t>个模型（含</a:t>
            </a:r>
            <a:r>
              <a:rPr lang="en-US" sz="1088">
                <a:solidFill>
                  <a:srgbClr val="4A5568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088">
                <a:solidFill>
                  <a:srgbClr val="4A5568"/>
                </a:solidFill>
                <a:latin typeface="Microsoft YaHei"/>
                <a:ea typeface="Microsoft YaHei"/>
              </a:rPr>
              <a:t>个深度模型）显著更差。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7181850" y="933450"/>
            <a:ext cx="4629150" cy="2000250"/>
          </a:xfrm>
          <a:prstGeom prst="roundRect">
            <a:avLst>
              <a:gd name="adj" fmla="val 4762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7334250" y="1085850"/>
            <a:ext cx="4324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口径</a:t>
            </a: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②</a:t>
            </a:r>
            <a:r>
              <a:rPr lang="zh-CN" sz="1275" b="1">
                <a:solidFill>
                  <a:srgbClr val="0E3F8C"/>
                </a:solidFill>
                <a:latin typeface="Microsoft YaHei"/>
                <a:ea typeface="Microsoft YaHei"/>
              </a:rPr>
              <a:t>：折级</a:t>
            </a:r>
            <a:r>
              <a:rPr lang="en-US" sz="1275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Wilcoxon + Holm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7334250" y="1362075"/>
            <a:ext cx="4324350" cy="8477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088">
                <a:solidFill>
                  <a:srgbClr val="4A5568"/>
                </a:solidFill>
                <a:latin typeface="Microsoft YaHei"/>
                <a:ea typeface="Microsoft YaHei"/>
              </a:rPr>
              <a:t xml:space="preserve">Stage B </a:t>
            </a:r>
            <a:r>
              <a:rPr lang="zh-CN" sz="1088">
                <a:solidFill>
                  <a:srgbClr val="4A5568"/>
                </a:solidFill>
                <a:latin typeface="Microsoft YaHei"/>
                <a:ea typeface="Microsoft YaHei"/>
              </a:rPr>
              <a:t>嵌套调参后，前</a:t>
            </a:r>
            <a:r>
              <a:rPr lang="en-US" sz="1088">
                <a:solidFill>
                  <a:srgbClr val="4A5568"/>
                </a:solidFill>
                <a:latin typeface="Microsoft YaHei"/>
                <a:ea typeface="Microsoft YaHei"/>
              </a:rPr>
              <a:t xml:space="preserve"> 8 </a:t>
            </a:r>
            <a:r>
              <a:rPr lang="zh-CN" sz="1088">
                <a:solidFill>
                  <a:srgbClr val="4A5568"/>
                </a:solidFill>
                <a:latin typeface="Microsoft YaHei"/>
                <a:ea typeface="Microsoft YaHei"/>
              </a:rPr>
              <a:t>名全部显著优于基线：</a:t>
            </a:r>
            <a:endParaRPr/>
          </a:p>
          <a:p>
            <a:pPr>
              <a:lnSpc>
                <a:spcPct val="170000"/>
              </a:lnSpc>
            </a:pPr>
            <a:r>
              <a:rPr lang="en-US" sz="1088">
                <a:solidFill>
                  <a:srgbClr val="4A5568"/>
                </a:solidFill>
                <a:latin typeface="Microsoft YaHei"/>
                <a:ea typeface="Microsoft YaHei"/>
              </a:rPr>
              <a:t>ΔAUC = +0.037 ~ +0.057</a:t>
            </a:r>
            <a:r>
              <a:rPr lang="zh-CN" sz="1088">
                <a:solidFill>
                  <a:srgbClr val="4A5568"/>
                </a:solidFill>
                <a:latin typeface="Microsoft YaHei"/>
                <a:ea typeface="Microsoft YaHei"/>
              </a:rPr>
              <a:t>，</a:t>
            </a:r>
            <a:endParaRPr/>
          </a:p>
          <a:p>
            <a:pPr>
              <a:lnSpc>
                <a:spcPct val="170000"/>
              </a:lnSpc>
            </a:pPr>
            <a:r>
              <a:rPr lang="en-US" sz="1088">
                <a:solidFill>
                  <a:srgbClr val="4A5568"/>
                </a:solidFill>
                <a:latin typeface="Microsoft YaHei"/>
                <a:ea typeface="Microsoft YaHei"/>
              </a:rPr>
              <a:t xml:space="preserve">Holm </a:t>
            </a:r>
            <a:r>
              <a:rPr lang="zh-CN" sz="1088">
                <a:solidFill>
                  <a:srgbClr val="4A5568"/>
                </a:solidFill>
                <a:latin typeface="Microsoft YaHei"/>
                <a:ea typeface="Microsoft YaHei"/>
              </a:rPr>
              <a:t>校正</a:t>
            </a:r>
            <a:r>
              <a:rPr lang="en-US" sz="1088">
                <a:solidFill>
                  <a:srgbClr val="4A5568"/>
                </a:solidFill>
                <a:latin typeface="Microsoft YaHei"/>
                <a:ea typeface="Microsoft YaHei"/>
              </a:rPr>
              <a:t xml:space="preserve"> p = 0.0036 ~ 0.049</a:t>
            </a:r>
            <a:r>
              <a:rPr lang="zh-CN" sz="1088">
                <a:solidFill>
                  <a:srgbClr val="4A5568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7181850" y="3048000"/>
            <a:ext cx="4629150" cy="1695450"/>
          </a:xfrm>
          <a:prstGeom prst="roundRect">
            <a:avLst>
              <a:gd name="adj" fmla="val 5618"/>
            </a:avLst>
          </a:prstGeom>
          <a:solidFill>
            <a:srgbClr val="FFF8E6"/>
          </a:solidFill>
          <a:ln w="12700">
            <a:solidFill>
              <a:srgbClr val="F0DFA8"/>
            </a:solidFill>
            <a:prstDash val="solid"/>
          </a:ln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7334250" y="3200400"/>
            <a:ext cx="4324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7A6420"/>
                </a:solidFill>
                <a:latin typeface="Microsoft YaHei"/>
                <a:ea typeface="Microsoft YaHei"/>
              </a:rPr>
              <a:t>口径</a:t>
            </a:r>
            <a:r>
              <a:rPr lang="en-US" sz="1275" b="1">
                <a:solidFill>
                  <a:srgbClr val="7A6420"/>
                </a:solidFill>
                <a:latin typeface="Microsoft YaHei"/>
                <a:ea typeface="Microsoft YaHei"/>
              </a:rPr>
              <a:t xml:space="preserve"> ③</a:t>
            </a:r>
            <a:r>
              <a:rPr lang="zh-CN" sz="1275" b="1">
                <a:solidFill>
                  <a:srgbClr val="7A6420"/>
                </a:solidFill>
                <a:latin typeface="Microsoft YaHei"/>
                <a:ea typeface="Microsoft YaHei"/>
              </a:rPr>
              <a:t>：患者层面</a:t>
            </a:r>
            <a:r>
              <a:rPr lang="en-US" sz="1275" b="1">
                <a:solidFill>
                  <a:srgbClr val="7A6420"/>
                </a:solidFill>
                <a:latin typeface="Microsoft YaHei"/>
                <a:ea typeface="Microsoft YaHei"/>
              </a:rPr>
              <a:t xml:space="preserve"> DeLong</a:t>
            </a:r>
            <a:r>
              <a:rPr lang="zh-CN" sz="1275" b="1">
                <a:solidFill>
                  <a:srgbClr val="7A6420"/>
                </a:solidFill>
                <a:latin typeface="Microsoft YaHei"/>
                <a:ea typeface="Microsoft YaHei"/>
              </a:rPr>
              <a:t>（诚实披露）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334250" y="3476625"/>
            <a:ext cx="43243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88">
                <a:solidFill>
                  <a:srgbClr val="7A6420"/>
                </a:solidFill>
                <a:latin typeface="Microsoft YaHei"/>
                <a:ea typeface="Microsoft YaHei"/>
              </a:rPr>
              <a:t>池化折外预测上</a:t>
            </a:r>
            <a:r>
              <a:rPr lang="en-US" sz="1088">
                <a:solidFill>
                  <a:srgbClr val="7A6420"/>
                </a:solidFill>
                <a:latin typeface="Microsoft YaHei"/>
                <a:ea typeface="Microsoft YaHei"/>
              </a:rPr>
              <a:t xml:space="preserve"> ΔAUC = 0.041 ~ 0.054</a:t>
            </a:r>
            <a:r>
              <a:rPr lang="zh-CN" sz="1088">
                <a:solidFill>
                  <a:srgbClr val="7A6420"/>
                </a:solidFill>
                <a:latin typeface="Microsoft YaHei"/>
                <a:ea typeface="Microsoft YaHei"/>
              </a:rPr>
              <a:t>，但</a:t>
            </a:r>
            <a:r>
              <a:rPr lang="en-US" sz="1088">
                <a:solidFill>
                  <a:srgbClr val="7A6420"/>
                </a:solidFill>
                <a:latin typeface="Microsoft YaHei"/>
                <a:ea typeface="Microsoft YaHei"/>
              </a:rPr>
              <a:t xml:space="preserve"> Holm </a:t>
            </a:r>
            <a:r>
              <a:rPr lang="zh-CN" sz="1088">
                <a:solidFill>
                  <a:srgbClr val="7A6420"/>
                </a:solidFill>
                <a:latin typeface="Microsoft YaHei"/>
                <a:ea typeface="Microsoft YaHei"/>
              </a:rPr>
              <a:t>校正后</a:t>
            </a:r>
            <a:r>
              <a:rPr lang="en-US" sz="1088">
                <a:solidFill>
                  <a:srgbClr val="7A6420"/>
                </a:solidFill>
                <a:latin typeface="Microsoft YaHei"/>
                <a:ea typeface="Microsoft YaHei"/>
              </a:rPr>
              <a:t xml:space="preserve"> p = 0.12 ~ 0.26</a:t>
            </a:r>
            <a:r>
              <a:rPr lang="zh-CN" sz="1088">
                <a:solidFill>
                  <a:srgbClr val="7A6420"/>
                </a:solidFill>
                <a:latin typeface="Microsoft YaHei"/>
                <a:ea typeface="Microsoft YaHei"/>
              </a:rPr>
              <a:t>，未达显著。三种口径里它最保守——论文写作时按此口径陈述，避免过度声称。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7181850" y="4838700"/>
            <a:ext cx="46291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8B97A8"/>
                </a:solidFill>
                <a:latin typeface="Microsoft YaHei"/>
                <a:ea typeface="Microsoft YaHei"/>
              </a:rPr>
              <a:t>校准补充：</a:t>
            </a:r>
            <a:r>
              <a:rPr lang="en-US" sz="1013">
                <a:solidFill>
                  <a:srgbClr val="8B97A8"/>
                </a:solidFill>
                <a:latin typeface="Microsoft YaHei"/>
                <a:ea typeface="Microsoft YaHei"/>
              </a:rPr>
              <a:t xml:space="preserve">SuperLearner </a:t>
            </a:r>
            <a:r>
              <a:rPr lang="zh-CN" sz="1013">
                <a:solidFill>
                  <a:srgbClr val="8B97A8"/>
                </a:solidFill>
                <a:latin typeface="Microsoft YaHei"/>
                <a:ea typeface="Microsoft YaHei"/>
              </a:rPr>
              <a:t>斜率</a:t>
            </a:r>
            <a:r>
              <a:rPr lang="en-US" sz="1013">
                <a:solidFill>
                  <a:srgbClr val="8B97A8"/>
                </a:solidFill>
                <a:latin typeface="Microsoft YaHei"/>
                <a:ea typeface="Microsoft YaHei"/>
              </a:rPr>
              <a:t xml:space="preserve"> 1.00 / </a:t>
            </a:r>
            <a:r>
              <a:rPr lang="zh-CN" sz="1013">
                <a:solidFill>
                  <a:srgbClr val="8B97A8"/>
                </a:solidFill>
                <a:latin typeface="Microsoft YaHei"/>
                <a:ea typeface="Microsoft YaHei"/>
              </a:rPr>
              <a:t>截距</a:t>
            </a:r>
            <a:r>
              <a:rPr lang="en-US" sz="1013">
                <a:solidFill>
                  <a:srgbClr val="8B97A8"/>
                </a:solidFill>
                <a:latin typeface="Microsoft YaHei"/>
                <a:ea typeface="Microsoft YaHei"/>
              </a:rPr>
              <a:t xml:space="preserve"> 0.01</a:t>
            </a:r>
            <a:r>
              <a:rPr lang="zh-CN" sz="1013">
                <a:solidFill>
                  <a:srgbClr val="8B97A8"/>
                </a:solidFill>
                <a:latin typeface="Microsoft YaHei"/>
                <a:ea typeface="Microsoft YaHei"/>
              </a:rPr>
              <a:t>（接近理想）；</a:t>
            </a:r>
            <a:r>
              <a:rPr lang="en-US" sz="1013">
                <a:solidFill>
                  <a:srgbClr val="8B97A8"/>
                </a:solidFill>
                <a:latin typeface="Microsoft YaHei"/>
                <a:ea typeface="Microsoft YaHei"/>
              </a:rPr>
              <a:t xml:space="preserve">LDA_Shrinkage </a:t>
            </a:r>
            <a:r>
              <a:rPr lang="zh-CN" sz="1013">
                <a:solidFill>
                  <a:srgbClr val="8B97A8"/>
                </a:solidFill>
                <a:latin typeface="Microsoft YaHei"/>
                <a:ea typeface="Microsoft YaHei"/>
              </a:rPr>
              <a:t>斜率</a:t>
            </a:r>
            <a:r>
              <a:rPr lang="en-US" sz="1013">
                <a:solidFill>
                  <a:srgbClr val="8B97A8"/>
                </a:solidFill>
                <a:latin typeface="Microsoft YaHei"/>
                <a:ea typeface="Microsoft YaHei"/>
              </a:rPr>
              <a:t xml:space="preserve"> 0.63 </a:t>
            </a:r>
            <a:r>
              <a:rPr lang="zh-CN" sz="1013">
                <a:solidFill>
                  <a:srgbClr val="8B97A8"/>
                </a:solidFill>
                <a:latin typeface="Microsoft YaHei"/>
                <a:ea typeface="Microsoft YaHei"/>
              </a:rPr>
              <a:t>偏保守，部署前宜再校准。</a:t>
            </a:r>
            <a:endParaRPr/>
          </a:p>
        </p:txBody>
      </p:sp>
      <p:sp>
        <p:nvSpPr>
          <p:cNvPr id="67" name=""/>
          <p:cNvSpPr/>
          <p:nvPr/>
        </p:nvSpPr>
        <p:spPr>
          <a:xfrm rot="0" flipH="0" flipV="0">
            <a:off x="0" y="6486525"/>
            <a:ext cx="12192000" cy="3714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68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381000" y="660082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南京医科大学第一附属医院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心律失常团队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1334750" y="65913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12 / 15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a16="http://schemas.microsoft.com/office/drawing/2014/main" xmlns:mc="http://schemas.openxmlformats.org/markup-compatibility/2006" mc:Ignorable="a16">
  <p:cSld>
    <p:spTree>
      <p:nvGrpSpPr>
        <p:cNvPr id="71" name="" descr="&lt;Slide style={{ width: 1280, height: 720, background: '#FFFFFF', flexDirection: 'column', fontFamily: '&quot;Microsoft YaHei&quot;,&quot;Source Han Sans SC&quot;,&quot;Noto Sans SC&quot;,sans-serif' }}&gt;&#10;  &lt;Box style={{ height: 80, background: '#1E4FA8', flexDirection: 'row', alignItems: 'center', justifyContent: 'space-between', paddingLeft: 40, paddingRight: 40 }}&gt;&#10;    &lt;Text style={{ fontSize: 26, fontWeight: 'bold', color: '#FFFFFF' }}&gt;换个划分方式重跑，结论不变吗？——四种重采样交叉确认&lt;/Text&gt;&#10;    &lt;Text style={{ fontSize: 14, color: 'rgba(255,255,255,0.75)' }}&gt;CRT 应答预测 · AI 模型基准对比&lt;/Text&gt;&#10;  &lt;/Box&gt;&#10;  &lt;Box style={{ flex: 1, paddingLeft: 40, paddingRight: 40, paddingTop: 18, paddingBottom: 18, background: '#FFFFFF', flexDirection: 'row', gap: 26 }}&gt;&#10;    &lt;Box style={{ width: 720 }}&gt;&#10;      &lt;Box style={{ width: '100%', background: '#FFFFFF', border: '1px solid #D6DCE5', borderRadius: 12, padding: 12 }}&gt;&#10;        &lt;Image src=&quot;assets/robustness.png&quot; style={{ width: 615, height: 320, objectFit: 'contain' }} /&gt;&#10;      &lt;/Box&gt;&#10;      &lt;Text style={{ fontSize: 13.5, color: '#8B97A8', marginTop: 4, textAlign: 'center' }}&gt;四种重采样方案下的 AUC：LOOCV（留一法）· 蒙特卡洛 100 次留出 · Bootstrap 乐观度校正（200 次自抽样）&lt;/Text&gt;&#10;      &lt;Table&#10;        style={{ width: '100%', height: 156, marginTop: 10 }}&#10;        defaultTextStyle={{ fontSize: 14.5, textAlign: 'center', color: '#1A2230' }}&#10;        defaultCellStyle={{&#10;          border: {&#10;            left: { width: 1, color: '#E5E7EB' },&#10;            right: { width: 1, color: '#E5E7EB' },&#10;            top: { width: 1, color: '#E5E7EB' },&#10;            bottom: { width: 1, color: '#E5E7EB' },&#10;          },&#10;        }}&#10;        cells={[&#10;          [&#10;            { text: '模型', textStyle: { bold: true, color: '#FFFFFF' }, cellStyle: { background: { color: '#1E4FA8' } } },&#10;            { text: 'LOO', textStyle: { bold: true, color: '#FFFFFF' }, cellStyle: { background: { color: '#1E4FA8' } } },&#10;            { text: '蒙特卡洛', textStyle: { bold: true, color: '#FFFFFF' }, cellStyle: { background: { color: '#1E4FA8' } } },&#10;            { text: '5 种子均值', textStyle: { bold: true, color: '#FFFFFF' }, cellStyle: { background: { color: '#1E4FA8' } } },&#10;            { text: '种子间 SD', textStyle: { bold: true, color: '#FFFFFF' }, cellStyle: { background: { color: '#1E4FA8' } } },&#10;          ],&#10;          [&#10;            { text: 'LDA_Shrinkage', textStyle: { bold: true }, cellStyle: { background: { color: '#E8EFF8' } } },&#10;            { text: '0.810', cellStyle: { background: { color: '#E8EFF8' } } },&#10;            { text: '0.812', cellStyle: { background: { color: '#E8EFF8' } } },&#10;            { text: '0.810', textStyle: { bold: true, color: '#1E4FA8' }, cellStyle: { background: { color: '#E8EFF8' } } },&#10;            { text: '0.006', cellStyle: { background: { color: '#E8EFF8' } } },&#10;          ],&#10;          ['Stacking_Logit', '0.792', '0.810', '0.803', '0.006'],&#10;          ['GaussianProcess_RBF', '0.803', '0.806', '0.796', '0.007'],&#10;          ['SuperLearner_NNLS', '0.796', '0.809', '0.801', '0.009'],&#10;        ]}&#10;      /&gt;&#10;    &lt;/Box&gt;&#10;    &lt;Box style={{ flex: 1, justifyContent: 'center' }}&gt;&#10;      &lt;Box style={{ width: 56, height: 5, background: '#1E4FA8' }} /&gt;&#10;      &lt;Text style={{ fontSize: 24, fontWeight: 'bold', color: '#0E3F8C', marginTop: 14, lineHeight: 1.5 }}&gt;&#10;        LDA_Shrinkage 在 5 个随机种子下&lt;br /&gt;全部排名第一&#10;      &lt;/Text&gt;&#10;      &lt;Box style={{ marginTop: 16, gap: 12 }}&gt;&#10;        &lt;Box style={{ background: '#F0F5FC', borderRadius: 8, padding: 14 }}&gt;&#10;          &lt;Text style={{ fontSize: 15.5, color: '#1A2230', lineHeight: 1.7 }}&gt;&#10;            LOO 与蒙特卡洛口径下，四个领先模型全部落在 &lt;Text style={{ fontWeight: 'bold', color: '#1E4FA8' }}&gt;0.79–0.81&lt;/Text&gt; 的窄带内——排名对数据划分方式不敏感。&#10;          &lt;/Text&gt;&#10;        &lt;/Box&gt;&#10;        &lt;Box style={{ background: '#FFF8E6', borderRadius: 8, padding: 14, border: '1px solid #F0DFA8' }}&gt;&#10;          &lt;Text style={{ fontSize: 15.5, color: '#7A6420', lineHeight: 1.7 }}&gt;&#10;            Bootstrap 校正揭示过拟合风险：GP / Stacking 的表观 AUC 高达 0.98，校正后仍虚高（0.93–0.95）；而 &lt;Text style={{ fontWeight: 'bold' }}&gt;LDA_Shrinkage 三口径最一致（0.81 / 0.81 / 0.83）&lt;/Text&gt;——最&quot;诚实&quot;的模型。&#10;          &lt;/Text&gt;&#10;        &lt;/Box&gt;&#10;        &lt;Box style={{ background: '#F0F5FC', borderRadius: 8, padding: 14 }}&gt;&#10;          &lt;Text style={{ fontSize: 15.5, color: '#1A2230', lineHeight: 1.7 }}&gt;&#10;            结论排序不是种子运气：LDA_Shrinkage 种子间 SD 仅 0.006，times_best = 5/5。&#10;          &lt;/Text&gt;&#10;        &lt;/Box&gt;&#10;      &lt;/Box&gt;&#10;    &lt;/Box&gt;&#10;  &lt;/Box&gt;&#10;  &lt;Box style={{ height: 40, flexDirection: 'row', alignItems: 'center', justifyContent: 'space-between', paddingLeft: 40, paddingRight: 40, borderTop: '1px solid #E5E7EB', background: '#F7F9FC' }}&gt;&#10;    &lt;Text style={{ fontSize: 13, color: '#8B97A8' }}&gt;南京医科大学第一附属医院 · 心律失常团队&lt;/Text&gt;&#10;    &lt;Text style={{ fontSize: 14, fontWeight: 'bold', color: '#1E4FA8' }}&gt;13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64865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换个划分方式重跑，结论不变吗？——四种重采样交叉确认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9896475" y="304800"/>
            <a:ext cx="1914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CRT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应答预测</a:t>
            </a:r>
            <a:r>
              <a:rPr lang="en-US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· AI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模型基准对比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0" y="762000"/>
            <a:ext cx="12192000" cy="5715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7" name=""/>
          <p:cNvSpPr/>
          <p:nvPr/>
        </p:nvSpPr>
        <p:spPr>
          <a:xfrm rot="0" flipH="0" flipV="0">
            <a:off x="381000" y="933450"/>
            <a:ext cx="6858000" cy="32766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78" name=""/>
          <p:cNvPicPr>
            <a:picLocks noChangeAspect="1"/>
          </p:cNvPicPr>
          <p:nvPr/>
        </p:nvPicPr>
        <p:blipFill>
          <a:blip r:embed="rId1"/>
          <a:srcRect l="31" t="0" r="31" b="0"/>
          <a:stretch>
            <a:fillRect/>
          </a:stretch>
        </p:blipFill>
        <p:spPr>
          <a:xfrm rot="0" flipH="0" flipV="0">
            <a:off x="495300" y="1047750"/>
            <a:ext cx="5857875" cy="3048000"/>
          </a:xfrm>
          <a:prstGeom prst="rect">
            <a:avLst/>
          </a:prstGeom>
          <a:ln/>
        </p:spPr>
      </p:pic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381000" y="4248150"/>
            <a:ext cx="68580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13">
                <a:solidFill>
                  <a:srgbClr val="8B97A8"/>
                </a:solidFill>
                <a:latin typeface="Microsoft YaHei"/>
                <a:ea typeface="Microsoft YaHei"/>
              </a:rPr>
              <a:t>四种重采样方案下的</a:t>
            </a:r>
            <a:r>
              <a:rPr lang="en-US" sz="1013">
                <a:solidFill>
                  <a:srgbClr val="8B97A8"/>
                </a:solidFill>
                <a:latin typeface="Microsoft YaHei"/>
                <a:ea typeface="Microsoft YaHei"/>
              </a:rPr>
              <a:t xml:space="preserve"> AUC</a:t>
            </a:r>
            <a:r>
              <a:rPr lang="zh-CN" sz="1013">
                <a:solidFill>
                  <a:srgbClr val="8B97A8"/>
                </a:solidFill>
                <a:latin typeface="Microsoft YaHei"/>
                <a:ea typeface="Microsoft YaHei"/>
              </a:rPr>
              <a:t>：</a:t>
            </a:r>
            <a:r>
              <a:rPr lang="en-US" sz="1013">
                <a:solidFill>
                  <a:srgbClr val="8B97A8"/>
                </a:solidFill>
                <a:latin typeface="Microsoft YaHei"/>
                <a:ea typeface="Microsoft YaHei"/>
              </a:rPr>
              <a:t>LOOCV</a:t>
            </a:r>
            <a:r>
              <a:rPr lang="zh-CN" sz="1013">
                <a:solidFill>
                  <a:srgbClr val="8B97A8"/>
                </a:solidFill>
                <a:latin typeface="Microsoft YaHei"/>
                <a:ea typeface="Microsoft YaHei"/>
              </a:rPr>
              <a:t>（留一法）·</a:t>
            </a:r>
            <a:r>
              <a:rPr lang="en-US" sz="1013">
                <a:solidFill>
                  <a:srgbClr val="8B97A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13">
                <a:solidFill>
                  <a:srgbClr val="8B97A8"/>
                </a:solidFill>
                <a:latin typeface="Microsoft YaHei"/>
                <a:ea typeface="Microsoft YaHei"/>
              </a:rPr>
              <a:t>蒙特卡洛</a:t>
            </a:r>
            <a:r>
              <a:rPr lang="en-US" sz="1013">
                <a:solidFill>
                  <a:srgbClr val="8B97A8"/>
                </a:solidFill>
                <a:latin typeface="Microsoft YaHei"/>
                <a:ea typeface="Microsoft YaHei"/>
              </a:rPr>
              <a:t xml:space="preserve"> 100 </a:t>
            </a:r>
            <a:r>
              <a:rPr lang="zh-CN" sz="1013">
                <a:solidFill>
                  <a:srgbClr val="8B97A8"/>
                </a:solidFill>
                <a:latin typeface="Microsoft YaHei"/>
                <a:ea typeface="Microsoft YaHei"/>
              </a:rPr>
              <a:t>次留出</a:t>
            </a:r>
            <a:r>
              <a:rPr lang="en-US" sz="1013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Bootstrap </a:t>
            </a:r>
            <a:r>
              <a:rPr lang="zh-CN" sz="1013">
                <a:solidFill>
                  <a:srgbClr val="8B97A8"/>
                </a:solidFill>
                <a:latin typeface="Microsoft YaHei"/>
                <a:ea typeface="Microsoft YaHei"/>
              </a:rPr>
              <a:t>乐观度校正（</a:t>
            </a:r>
            <a:r>
              <a:rPr lang="en-US" sz="1013">
                <a:solidFill>
                  <a:srgbClr val="8B97A8"/>
                </a:solidFill>
                <a:latin typeface="Microsoft YaHei"/>
                <a:ea typeface="Microsoft YaHei"/>
              </a:rPr>
              <a:t xml:space="preserve">200 </a:t>
            </a:r>
            <a:r>
              <a:rPr lang="zh-CN" sz="1013">
                <a:solidFill>
                  <a:srgbClr val="8B97A8"/>
                </a:solidFill>
                <a:latin typeface="Microsoft YaHei"/>
                <a:ea typeface="Microsoft YaHei"/>
              </a:rPr>
              <a:t>次自抽样）</a:t>
            </a:r>
            <a:endParaRPr/>
          </a:p>
        </p:txBody>
      </p:sp>
      <p:graphicFrame>
        <p:nvGraphicFramePr>
          <p:cNvPr id="80" name=""/>
          <p:cNvGraphicFramePr/>
          <p:nvPr/>
        </p:nvGraphicFramePr>
        <p:xfrm rot="0" flipH="0" flipV="0">
          <a:off x="381000" y="4505325"/>
          <a:ext cx="6858000" cy="1485900"/>
        </p:xfrm>
        <a:graphic>
          <a:graphicData uri="http://schemas.openxmlformats.org/drawingml/2006/table">
            <a:tbl>
              <a:tblGrid>
                <a:gridCol w="2496122">
                  <a:extLst>
                    <a:ext uri="{9D8B030D-6E8A-4147-A177-3AD203B41FA5}">
                      <a16:colId val="1"/>
                    </a:ext>
                  </a:extLst>
                </a:gridCol>
                <a:gridCol w="753905">
                  <a:extLst>
                    <a:ext uri="{9D8B030D-6E8A-4147-A177-3AD203B41FA5}">
                      <a16:colId val="2"/>
                    </a:ext>
                  </a:extLst>
                </a:gridCol>
                <a:gridCol w="1070672">
                  <a:extLst>
                    <a:ext uri="{9D8B030D-6E8A-4147-A177-3AD203B41FA5}">
                      <a16:colId val="3"/>
                    </a:ext>
                  </a:extLst>
                </a:gridCol>
                <a:gridCol w="1292408">
                  <a:extLst>
                    <a:ext uri="{9D8B030D-6E8A-4147-A177-3AD203B41FA5}">
                      <a16:colId val="4"/>
                    </a:ext>
                  </a:extLst>
                </a:gridCol>
                <a:gridCol w="1244893">
                  <a:extLst>
                    <a:ext uri="{9D8B030D-6E8A-4147-A177-3AD203B41FA5}">
                      <a16:colId val="5"/>
                    </a:ext>
                  </a:extLst>
                </a:gridCol>
              </a:tblGrid>
              <a:tr h="29718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模型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LOO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蒙特卡洛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5 种子均值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</a:rPr>
                        <a:t>种子间 SD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FA8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29718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LDA_Shrinkage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0.810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0.812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 b="1">
                          <a:solidFill>
                            <a:srgbClr val="1E4FA8"/>
                          </a:solidFill>
                          <a:latin typeface="Microsoft YaHei"/>
                          <a:ea typeface="Microsoft YaHei"/>
                        </a:rPr>
                        <a:t>0.810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0.006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29718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Stacking_Logit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0.792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0.810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0.803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0.006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29718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GaussianProcess_RBF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0.803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0.806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0.796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0.007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29718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SuperLearner_NNLS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0.796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0.809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0.801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88">
                          <a:solidFill>
                            <a:srgbClr val="1A2230"/>
                          </a:solidFill>
                          <a:latin typeface="Microsoft YaHei"/>
                          <a:ea typeface="Microsoft YaHei"/>
                        </a:rPr>
                        <a:t>0.009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81" name=""/>
          <p:cNvSpPr/>
          <p:nvPr/>
        </p:nvSpPr>
        <p:spPr>
          <a:xfrm rot="0" flipH="0" flipV="0">
            <a:off x="7486650" y="1466850"/>
            <a:ext cx="5334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7486650" y="1647825"/>
            <a:ext cx="4324350" cy="8286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LDA_Shrinkage </a:t>
            </a: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在</a:t>
            </a:r>
            <a:r>
              <a:rPr lang="en-US" sz="180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个随机种子下</a:t>
            </a:r>
            <a:endParaRPr/>
          </a:p>
          <a:p>
            <a:pPr>
              <a:lnSpc>
                <a:spcPct val="150000"/>
              </a:lnSpc>
            </a:pPr>
            <a:r>
              <a:rPr lang="zh-CN" sz="1800" b="1">
                <a:solidFill>
                  <a:srgbClr val="0E3F8C"/>
                </a:solidFill>
                <a:latin typeface="Microsoft YaHei"/>
                <a:ea typeface="Microsoft YaHei"/>
              </a:rPr>
              <a:t>全部排名第一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7486650" y="2628900"/>
            <a:ext cx="4324350" cy="876300"/>
          </a:xfrm>
          <a:prstGeom prst="roundRect">
            <a:avLst>
              <a:gd name="adj" fmla="val 869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7620000" y="2762250"/>
            <a:ext cx="40576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63">
                <a:solidFill>
                  <a:srgbClr val="1A2230"/>
                </a:solidFill>
                <a:latin typeface="Microsoft YaHei"/>
                <a:ea typeface="Microsoft YaHei"/>
              </a:rPr>
              <a:t xml:space="preserve">LOO </a:t>
            </a:r>
            <a:r>
              <a:rPr lang="zh-CN" sz="1163">
                <a:solidFill>
                  <a:srgbClr val="1A2230"/>
                </a:solidFill>
                <a:latin typeface="Microsoft YaHei"/>
                <a:ea typeface="Microsoft YaHei"/>
              </a:rPr>
              <a:t>与蒙特卡洛口径下，四个领先模型全部落在</a:t>
            </a:r>
            <a:r>
              <a:rPr lang="en-US" sz="1163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163">
                <a:solidFill>
                  <a:srgbClr val="1A2230"/>
                </a:solidFill>
                <a:latin typeface="Microsoft YaHei"/>
                <a:ea typeface="Microsoft YaHei"/>
              </a:rPr>
              <a:t>0.79–0.81</a:t>
            </a:r>
            <a:r>
              <a:rPr lang="en-US" sz="1163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63">
                <a:solidFill>
                  <a:srgbClr val="1A2230"/>
                </a:solidFill>
                <a:latin typeface="Microsoft YaHei"/>
                <a:ea typeface="Microsoft YaHei"/>
              </a:rPr>
              <a:t>的窄带内——排名对数据划分方式不敏感。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7486650" y="3619500"/>
            <a:ext cx="4324350" cy="1171575"/>
          </a:xfrm>
          <a:prstGeom prst="roundRect">
            <a:avLst>
              <a:gd name="adj" fmla="val 6504"/>
            </a:avLst>
          </a:prstGeom>
          <a:solidFill>
            <a:srgbClr val="FFF8E6"/>
          </a:solidFill>
          <a:ln w="12700">
            <a:solidFill>
              <a:srgbClr val="F0DFA8"/>
            </a:solidFill>
            <a:prstDash val="solid"/>
          </a:ln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7620000" y="3752850"/>
            <a:ext cx="4057650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63">
                <a:solidFill>
                  <a:srgbClr val="7A6420"/>
                </a:solidFill>
                <a:latin typeface="Microsoft YaHei"/>
                <a:ea typeface="Microsoft YaHei"/>
              </a:rPr>
              <a:t xml:space="preserve">Bootstrap </a:t>
            </a:r>
            <a:r>
              <a:rPr lang="zh-CN" sz="1163">
                <a:solidFill>
                  <a:srgbClr val="7A6420"/>
                </a:solidFill>
                <a:latin typeface="Microsoft YaHei"/>
                <a:ea typeface="Microsoft YaHei"/>
              </a:rPr>
              <a:t>校正揭示过拟合风险：</a:t>
            </a:r>
            <a:r>
              <a:rPr lang="en-US" sz="1163">
                <a:solidFill>
                  <a:srgbClr val="7A6420"/>
                </a:solidFill>
                <a:latin typeface="Microsoft YaHei"/>
                <a:ea typeface="Microsoft YaHei"/>
              </a:rPr>
              <a:t xml:space="preserve">GP / Stacking </a:t>
            </a:r>
            <a:r>
              <a:rPr lang="zh-CN" sz="1163">
                <a:solidFill>
                  <a:srgbClr val="7A6420"/>
                </a:solidFill>
                <a:latin typeface="Microsoft YaHei"/>
                <a:ea typeface="Microsoft YaHei"/>
              </a:rPr>
              <a:t>的表观</a:t>
            </a:r>
            <a:r>
              <a:rPr lang="en-US" sz="1163">
                <a:solidFill>
                  <a:srgbClr val="7A6420"/>
                </a:solidFill>
                <a:latin typeface="Microsoft YaHei"/>
                <a:ea typeface="Microsoft YaHei"/>
              </a:rPr>
              <a:t xml:space="preserve"> AUC </a:t>
            </a:r>
            <a:r>
              <a:rPr lang="zh-CN" sz="1163">
                <a:solidFill>
                  <a:srgbClr val="7A6420"/>
                </a:solidFill>
                <a:latin typeface="Microsoft YaHei"/>
                <a:ea typeface="Microsoft YaHei"/>
              </a:rPr>
              <a:t>高达</a:t>
            </a:r>
            <a:r>
              <a:rPr lang="en-US" sz="1163">
                <a:solidFill>
                  <a:srgbClr val="7A6420"/>
                </a:solidFill>
                <a:latin typeface="Microsoft YaHei"/>
                <a:ea typeface="Microsoft YaHei"/>
              </a:rPr>
              <a:t xml:space="preserve"> 0.98</a:t>
            </a:r>
            <a:r>
              <a:rPr lang="zh-CN" sz="1163">
                <a:solidFill>
                  <a:srgbClr val="7A6420"/>
                </a:solidFill>
                <a:latin typeface="Microsoft YaHei"/>
                <a:ea typeface="Microsoft YaHei"/>
              </a:rPr>
              <a:t>，校正后仍虚高（</a:t>
            </a:r>
            <a:r>
              <a:rPr lang="en-US" sz="1163">
                <a:solidFill>
                  <a:srgbClr val="7A6420"/>
                </a:solidFill>
                <a:latin typeface="Microsoft YaHei"/>
                <a:ea typeface="Microsoft YaHei"/>
              </a:rPr>
              <a:t>0.93–0.95</a:t>
            </a:r>
            <a:r>
              <a:rPr lang="zh-CN" sz="1163">
                <a:solidFill>
                  <a:srgbClr val="7A6420"/>
                </a:solidFill>
                <a:latin typeface="Microsoft YaHei"/>
                <a:ea typeface="Microsoft YaHei"/>
              </a:rPr>
              <a:t>）；而</a:t>
            </a:r>
            <a:r>
              <a:rPr lang="en-US" sz="1163">
                <a:solidFill>
                  <a:srgbClr val="7A6420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163">
                <a:solidFill>
                  <a:srgbClr val="7A6420"/>
                </a:solidFill>
                <a:latin typeface="Microsoft YaHei"/>
                <a:ea typeface="Microsoft YaHei"/>
              </a:rPr>
              <a:t xml:space="preserve">LDA_Shrinkage </a:t>
            </a:r>
            <a:r>
              <a:rPr lang="zh-CN" sz="1163">
                <a:solidFill>
                  <a:srgbClr val="7A6420"/>
                </a:solidFill>
                <a:latin typeface="Microsoft YaHei"/>
                <a:ea typeface="Microsoft YaHei"/>
              </a:rPr>
              <a:t>三口径最一致（</a:t>
            </a:r>
            <a:r>
              <a:rPr lang="en-US" sz="1163">
                <a:solidFill>
                  <a:srgbClr val="7A6420"/>
                </a:solidFill>
                <a:latin typeface="Microsoft YaHei"/>
                <a:ea typeface="Microsoft YaHei"/>
              </a:rPr>
              <a:t>0.81 / 0.81 / 0.83</a:t>
            </a:r>
            <a:r>
              <a:rPr lang="zh-CN" sz="1163">
                <a:solidFill>
                  <a:srgbClr val="7A6420"/>
                </a:solidFill>
                <a:latin typeface="Microsoft YaHei"/>
                <a:ea typeface="Microsoft YaHei"/>
              </a:rPr>
              <a:t>）</a:t>
            </a:r>
            <a:r>
              <a:rPr lang="zh-CN" sz="1163">
                <a:solidFill>
                  <a:srgbClr val="7A6420"/>
                </a:solidFill>
                <a:latin typeface="Microsoft YaHei"/>
                <a:ea typeface="Microsoft YaHei"/>
              </a:rPr>
              <a:t>——最</a:t>
            </a:r>
            <a:r>
              <a:rPr lang="en-US" sz="1163">
                <a:solidFill>
                  <a:srgbClr val="7A6420"/>
                </a:solidFill>
                <a:latin typeface="Microsoft YaHei"/>
                <a:ea typeface="Microsoft YaHei"/>
              </a:rPr>
              <a:t>"</a:t>
            </a:r>
            <a:r>
              <a:rPr lang="zh-CN" sz="1163">
                <a:solidFill>
                  <a:srgbClr val="7A6420"/>
                </a:solidFill>
                <a:latin typeface="Microsoft YaHei"/>
                <a:ea typeface="Microsoft YaHei"/>
              </a:rPr>
              <a:t>诚实</a:t>
            </a:r>
            <a:r>
              <a:rPr lang="en-US" sz="1163">
                <a:solidFill>
                  <a:srgbClr val="7A6420"/>
                </a:solidFill>
                <a:latin typeface="Microsoft YaHei"/>
                <a:ea typeface="Microsoft YaHei"/>
              </a:rPr>
              <a:t>"</a:t>
            </a:r>
            <a:r>
              <a:rPr lang="zh-CN" sz="1163">
                <a:solidFill>
                  <a:srgbClr val="7A6420"/>
                </a:solidFill>
                <a:latin typeface="Microsoft YaHei"/>
                <a:ea typeface="Microsoft YaHei"/>
              </a:rPr>
              <a:t>的模型。</a:t>
            </a:r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7486650" y="4905375"/>
            <a:ext cx="4324350" cy="876300"/>
          </a:xfrm>
          <a:prstGeom prst="roundRect">
            <a:avLst>
              <a:gd name="adj" fmla="val 8696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7620000" y="5038725"/>
            <a:ext cx="40576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1A2230"/>
                </a:solidFill>
                <a:latin typeface="Microsoft YaHei"/>
                <a:ea typeface="Microsoft YaHei"/>
              </a:rPr>
              <a:t>结论排序不是种子运气：</a:t>
            </a:r>
            <a:r>
              <a:rPr lang="en-US" sz="1163">
                <a:solidFill>
                  <a:srgbClr val="1A2230"/>
                </a:solidFill>
                <a:latin typeface="Microsoft YaHei"/>
                <a:ea typeface="Microsoft YaHei"/>
              </a:rPr>
              <a:t xml:space="preserve">LDA_Shrinkage </a:t>
            </a:r>
            <a:r>
              <a:rPr lang="zh-CN" sz="1163">
                <a:solidFill>
                  <a:srgbClr val="1A2230"/>
                </a:solidFill>
                <a:latin typeface="Microsoft YaHei"/>
                <a:ea typeface="Microsoft YaHei"/>
              </a:rPr>
              <a:t>种子间</a:t>
            </a:r>
            <a:r>
              <a:rPr lang="en-US" sz="1163">
                <a:solidFill>
                  <a:srgbClr val="1A2230"/>
                </a:solidFill>
                <a:latin typeface="Microsoft YaHei"/>
                <a:ea typeface="Microsoft YaHei"/>
              </a:rPr>
              <a:t xml:space="preserve"> SD </a:t>
            </a:r>
            <a:r>
              <a:rPr lang="zh-CN" sz="1163">
                <a:solidFill>
                  <a:srgbClr val="1A2230"/>
                </a:solidFill>
                <a:latin typeface="Microsoft YaHei"/>
                <a:ea typeface="Microsoft YaHei"/>
              </a:rPr>
              <a:t>仅</a:t>
            </a:r>
            <a:r>
              <a:rPr lang="en-US" sz="1163">
                <a:solidFill>
                  <a:srgbClr val="1A2230"/>
                </a:solidFill>
                <a:latin typeface="Microsoft YaHei"/>
                <a:ea typeface="Microsoft YaHei"/>
              </a:rPr>
              <a:t xml:space="preserve"> 0.006</a:t>
            </a:r>
            <a:r>
              <a:rPr lang="zh-CN" sz="1163">
                <a:solidFill>
                  <a:srgbClr val="1A2230"/>
                </a:solidFill>
                <a:latin typeface="Microsoft YaHei"/>
                <a:ea typeface="Microsoft YaHei"/>
              </a:rPr>
              <a:t>，</a:t>
            </a:r>
            <a:r>
              <a:rPr lang="en-US" sz="1163">
                <a:solidFill>
                  <a:srgbClr val="1A2230"/>
                </a:solidFill>
                <a:latin typeface="Microsoft YaHei"/>
                <a:ea typeface="Microsoft YaHei"/>
              </a:rPr>
              <a:t>times_best = 5/5</a:t>
            </a:r>
            <a:r>
              <a:rPr lang="zh-CN" sz="1163">
                <a:solidFill>
                  <a:srgbClr val="1A2230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0" y="6486525"/>
            <a:ext cx="12192000" cy="3714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90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381000" y="660082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南京医科大学第一附属医院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心律失常团队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11334750" y="65913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13 / 15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93" name="" descr="&lt;Slide style={{ width: 1280, height: 720, background: '#FFFFFF', flexDirection: 'column', fontFamily: '&quot;Microsoft YaHei&quot;,&quot;Source Han Sans SC&quot;,&quot;Noto Sans SC&quot;,sans-serif' }}&gt;&#10;  &lt;Box style={{ height: 80, background: '#1E4FA8', flexDirection: 'row', alignItems: 'center', justifyContent: 'space-between', paddingLeft: 40, paddingRight: 40 }}&gt;&#10;    &lt;Text style={{ fontSize: 26, fontWeight: 'bold', color: '#FFFFFF' }}&gt;模型为什么这样选：SHAP 可解释性&lt;/Text&gt;&#10;    &lt;Text style={{ fontSize: 14, color: 'rgba(255,255,255,0.75)' }}&gt;CRT 应答预测 · AI 模型基准对比&lt;/Text&gt;&#10;  &lt;/Box&gt;&#10;  &lt;Box style={{ flex: 1, paddingLeft: 40, paddingRight: 40, paddingTop: 20, paddingBottom: 20, background: '#FFFFFF', flexDirection: 'row', gap: 30 }}&gt;&#10;    &lt;Box style={{ width: 500, alignItems: 'center' }}&gt;&#10;      &lt;Box style={{ width: 480, background: '#FFFFFF', border: '1px solid #D6DCE5', borderRadius: 12, padding: 14 }}&gt;&#10;        &lt;Image src=&quot;assets/shap_bar.png&quot; style={{ width: 452, height: 475, objectFit: 'contain' }} /&gt;&#10;      &lt;/Box&gt;&#10;      &lt;Text style={{ fontSize: 12, color: '#8B97A8', marginTop: 6 }}&gt;最优模型（LDA_Shrinkage）SHAP 重要性，KernelExplainer，全部 28 个特征&lt;/Text&gt;&#10;    &lt;/Box&gt;&#10;    &lt;Box style={{ flex: 1, justifyContent: 'center' }}&gt;&#10;      &lt;Box style={{ width: 56, height: 5, background: '#1E4FA8' }} /&gt;&#10;      &lt;Text style={{ fontSize: 26, fontWeight: 'bold', color: '#0E3F8C', marginTop: 12 }}&gt;重要性前 5 的特征&lt;/Text&gt;&#10;      &lt;Box style={{ marginTop: 18, gap: 12 }}&gt;&#10;        {[&#10;          { r: '1', n: 'LVESD', d: '左室收缩末内径 —— 左室重构程度' },&#10;          { r: '2', n: 'LVEF_Echo', d: '超声左室射血分数 —— 收缩功能' },&#10;          { r: '3', n: 'NT_proBNP', d: '神经激素水平（有序 1–5 分级）' },&#10;          { r: '4', n: 'QRSd_ms', d: 'QRS 时程 —— 电学失同步' },&#10;          { r: '5', n: 'NYHA', d: '心功能分级' },&#10;        ].map((f, i) =&gt; (&#10;          &lt;Box key={i} style={{ flexDirection: 'row', alignItems: 'center', background: '#F0F5FC', borderRadius: 8, paddingLeft: 16, paddingRight: 16, paddingTop: 12, paddingBottom: 12 }}&gt;&#10;            &lt;Box style={{ width: 34, height: 34, borderRadius: 17, background: '#1E4FA8', alignItems: 'center', justifyContent: 'center' }}&gt;&#10;              &lt;Text style={{ fontSize: 16, fontWeight: 'bold', color: '#FFFFFF' }}&gt;{f.r}&lt;/Text&gt;&#10;            &lt;/Box&gt;&#10;            &lt;Text style={{ fontSize: 18, fontWeight: 'bold', color: '#0E3F8C', marginLeft: 14 }}&gt;{f.n}&lt;/Text&gt;&#10;            &lt;Text style={{ fontSize: 14, color: '#4A5568', marginLeft: 12, flex: 1 }}&gt;{f.d}&lt;/Text&gt;&#10;          &lt;/Box&gt;&#10;        ))}&#10;      &lt;/Box&gt;&#10;      &lt;Box style={{ marginTop: 20, background: '#F7F9FC', border: '1px solid #D6DCE5', borderRadius: 10, padding: 18 }}&gt;&#10;        &lt;Text style={{ fontSize: 16, color: '#1A2230', lineHeight: 1.7 }}&gt;&#10;          与已发表论文的临床叙事&lt;span style={{ fontWeight: 'bold', color: '#1E4FA8' }}&gt;完全一致&lt;/span&gt;：左室重构更重、神经激素水平更高、电学失同步更明显的患者更难获得应答。模型不是在&quot;背数据&quot;，而是在复述临床直觉。&#10;        &lt;/Text&gt;&#10;      &lt;/Box&gt;&#10;    &lt;/Box&gt;&#10;  &lt;/Box&gt;&#10;  &lt;Box style={{ height: 40, flexDirection: 'row', alignItems: 'center', justifyContent: 'space-between', paddingLeft: 40, paddingRight: 40, borderTop: '1px solid #E5E7EB', background: '#F7F9FC' }}&gt;&#10;    &lt;Text style={{ fontSize: 13, color: '#8B97A8' }}&gt;南京医科大学第一附属医院 · 心律失常团队&lt;/Text&gt;&#10;    &lt;Text style={{ fontSize: 14, fontWeight: 'bold', color: '#1E4FA8' }}&gt;14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5" name=""/>
          <p:cNvSpPr/>
          <p:nvPr/>
        </p:nvSpPr>
        <p:spPr>
          <a:xfrm rot="0" flipH="0" flipV="0">
            <a:off x="0" y="0"/>
            <a:ext cx="12192000" cy="762000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381000" y="228600"/>
            <a:ext cx="400050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模型为什么这样选：</a:t>
            </a: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SHAP 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可解释性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9896475" y="304800"/>
            <a:ext cx="1914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CRT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应答预测</a:t>
            </a:r>
            <a:r>
              <a:rPr lang="en-US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 xml:space="preserve"> · AI </a:t>
            </a:r>
            <a:r>
              <a:rPr lang="zh-CN" sz="1050">
                <a:solidFill>
                  <a:srgbClr val="FFFFFF">
                    <a:alpha val="75000"/>
                  </a:srgbClr>
                </a:solidFill>
                <a:latin typeface="Microsoft YaHei"/>
                <a:ea typeface="Microsoft YaHei"/>
              </a:rPr>
              <a:t>模型基准对比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0" y="762000"/>
            <a:ext cx="12192000" cy="5715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9" name=""/>
          <p:cNvSpPr/>
          <p:nvPr/>
        </p:nvSpPr>
        <p:spPr>
          <a:xfrm rot="0" flipH="0" flipV="0">
            <a:off x="476250" y="952500"/>
            <a:ext cx="4572000" cy="4791075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pic>
        <p:nvPicPr>
          <p:cNvPr id="100" name=""/>
          <p:cNvPicPr>
            <a:picLocks noChangeAspect="1"/>
          </p:cNvPicPr>
          <p:nvPr/>
        </p:nvPicPr>
        <p:blipFill>
          <a:blip r:embed="rId1"/>
          <a:srcRect l="42" t="0" r="42" b="0"/>
          <a:stretch>
            <a:fillRect/>
          </a:stretch>
        </p:blipFill>
        <p:spPr>
          <a:xfrm rot="0" flipH="0" flipV="0">
            <a:off x="609600" y="1085850"/>
            <a:ext cx="4305300" cy="4524375"/>
          </a:xfrm>
          <a:prstGeom prst="rect">
            <a:avLst/>
          </a:prstGeom>
          <a:ln/>
        </p:spPr>
      </p:pic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742950" y="5800725"/>
            <a:ext cx="403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最优模型（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LDA_Shrinkage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）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SHAP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重要性，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>KernelExplainer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，全部</a:t>
            </a:r>
            <a:r>
              <a:rPr lang="en-US" sz="900">
                <a:solidFill>
                  <a:srgbClr val="8B97A8"/>
                </a:solidFill>
                <a:latin typeface="Microsoft YaHei"/>
                <a:ea typeface="Microsoft YaHei"/>
              </a:rPr>
              <a:t xml:space="preserve"> 28 </a:t>
            </a:r>
            <a:r>
              <a:rPr lang="zh-CN" sz="900">
                <a:solidFill>
                  <a:srgbClr val="8B97A8"/>
                </a:solidFill>
                <a:latin typeface="Microsoft YaHei"/>
                <a:ea typeface="Microsoft YaHei"/>
              </a:rPr>
              <a:t>个特征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5429250" y="1114425"/>
            <a:ext cx="5334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5429250" y="1276350"/>
            <a:ext cx="63817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重要性前</a:t>
            </a:r>
            <a:r>
              <a:rPr lang="en-US" sz="1950" b="1">
                <a:solidFill>
                  <a:srgbClr val="0E3F8C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950" b="1">
                <a:solidFill>
                  <a:srgbClr val="0E3F8C"/>
                </a:solidFill>
                <a:latin typeface="Microsoft YaHei"/>
                <a:ea typeface="Microsoft YaHei"/>
              </a:rPr>
              <a:t>的特征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5429250" y="1752600"/>
            <a:ext cx="6381750" cy="552450"/>
          </a:xfrm>
          <a:prstGeom prst="roundRect">
            <a:avLst>
              <a:gd name="adj" fmla="val 1379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05" name=""/>
          <p:cNvSpPr/>
          <p:nvPr/>
        </p:nvSpPr>
        <p:spPr>
          <a:xfrm rot="0" flipH="0" flipV="0">
            <a:off x="5581650" y="18669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5695950" y="19335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038850" y="1924050"/>
            <a:ext cx="5429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LVESD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6696075" y="1952625"/>
            <a:ext cx="4962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左室收缩末内径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左室重构程度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5429250" y="2419350"/>
            <a:ext cx="6381750" cy="552450"/>
          </a:xfrm>
          <a:prstGeom prst="roundRect">
            <a:avLst>
              <a:gd name="adj" fmla="val 1379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10" name=""/>
          <p:cNvSpPr/>
          <p:nvPr/>
        </p:nvSpPr>
        <p:spPr>
          <a:xfrm rot="0" flipH="0" flipV="0">
            <a:off x="5581650" y="25336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5695950" y="26003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038850" y="2590800"/>
            <a:ext cx="895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LVEF_Echo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048500" y="2619375"/>
            <a:ext cx="461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超声左室射血分数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收缩功能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5429250" y="3086100"/>
            <a:ext cx="6381750" cy="552450"/>
          </a:xfrm>
          <a:prstGeom prst="roundRect">
            <a:avLst>
              <a:gd name="adj" fmla="val 1379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5581650" y="32004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5695950" y="32670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6038850" y="3257550"/>
            <a:ext cx="10096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NT_proBNP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7162800" y="3286125"/>
            <a:ext cx="4495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神经激素水平（有序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1–5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分级）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5429250" y="3752850"/>
            <a:ext cx="6381750" cy="552450"/>
          </a:xfrm>
          <a:prstGeom prst="roundRect">
            <a:avLst>
              <a:gd name="adj" fmla="val 1379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20" name=""/>
          <p:cNvSpPr/>
          <p:nvPr/>
        </p:nvSpPr>
        <p:spPr>
          <a:xfrm rot="0" flipH="0" flipV="0">
            <a:off x="5581650" y="38671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5695950" y="393382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6038850" y="3924300"/>
            <a:ext cx="8096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QRSd_ms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6962775" y="3952875"/>
            <a:ext cx="4695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QRS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时程</a:t>
            </a:r>
            <a:r>
              <a:rPr lang="en-US" sz="1050">
                <a:solidFill>
                  <a:srgbClr val="4A5568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电学失同步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5429250" y="4419600"/>
            <a:ext cx="6381750" cy="552450"/>
          </a:xfrm>
          <a:prstGeom prst="roundRect">
            <a:avLst>
              <a:gd name="adj" fmla="val 13793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25" name=""/>
          <p:cNvSpPr/>
          <p:nvPr/>
        </p:nvSpPr>
        <p:spPr>
          <a:xfrm rot="0" flipH="0" flipV="0">
            <a:off x="5581650" y="453390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5695950" y="4600575"/>
            <a:ext cx="95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038850" y="4591050"/>
            <a:ext cx="5334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E3F8C"/>
                </a:solidFill>
                <a:latin typeface="Microsoft YaHei"/>
                <a:ea typeface="Microsoft YaHei"/>
              </a:rPr>
              <a:t>NYHA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686550" y="4619625"/>
            <a:ext cx="497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4A5568"/>
                </a:solidFill>
                <a:latin typeface="Microsoft YaHei"/>
                <a:ea typeface="Microsoft YaHei"/>
              </a:rPr>
              <a:t>心功能分级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5429250" y="5162550"/>
            <a:ext cx="6381750" cy="971550"/>
          </a:xfrm>
          <a:prstGeom prst="roundRect">
            <a:avLst>
              <a:gd name="adj" fmla="val 9804"/>
            </a:avLst>
          </a:prstGeom>
          <a:solidFill>
            <a:srgbClr val="F7F9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5600700" y="5334000"/>
            <a:ext cx="60388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与已发表论文的临床叙事</a:t>
            </a:r>
            <a:r>
              <a:rPr lang="zh-CN" sz="1200" b="1">
                <a:solidFill>
                  <a:srgbClr val="1E4FA8"/>
                </a:solidFill>
                <a:latin typeface="Microsoft YaHei"/>
                <a:ea typeface="Microsoft YaHei"/>
              </a:rPr>
              <a:t>完全一致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：左室重构更重、神经激素水平更高、电学失同步更明显的患者更难获得应答。模型不是在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背数据</a:t>
            </a:r>
            <a:r>
              <a:rPr lang="en-US" sz="1200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200">
                <a:solidFill>
                  <a:srgbClr val="1A2230"/>
                </a:solidFill>
                <a:latin typeface="Microsoft YaHei"/>
                <a:ea typeface="Microsoft YaHei"/>
              </a:rPr>
              <a:t>，而是在复述临床直觉。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0" y="6486525"/>
            <a:ext cx="12192000" cy="371475"/>
          </a:xfrm>
          <a:prstGeom prst="rect">
            <a:avLst/>
          </a:prstGeom>
          <a:solidFill>
            <a:srgbClr val="F7F9FC"/>
          </a:solidFill>
          <a:ln/>
        </p:spPr>
        <p:txBody>
          <a:bodyPr/>
          <a:p/>
        </p:txBody>
      </p:sp>
      <p:sp>
        <p:nvSpPr>
          <p:cNvPr id="132" name=""/>
          <p:cNvSpPr/>
          <p:nvPr/>
        </p:nvSpPr>
        <p:spPr>
          <a:xfrm rot="0" flipH="0" flipV="0">
            <a:off x="0" y="6477000"/>
            <a:ext cx="12192000" cy="381000"/>
          </a:xfrm>
          <a:custGeom>
            <a:pathLst>
              <a:path w="1280" h="40">
                <a:moveTo>
                  <a:pt x="0" y="0"/>
                </a:moveTo>
                <a:lnTo>
                  <a:pt x="1280" y="0"/>
                </a:lnTo>
                <a:lnTo>
                  <a:pt x="1280" y="1"/>
                </a:lnTo>
                <a:lnTo>
                  <a:pt x="0" y="1"/>
                </a:lnTo>
                <a:close/>
              </a:path>
            </a:pathLst>
          </a:custGeom>
          <a:solidFill>
            <a:srgbClr val="E5E7EB"/>
          </a:solidFill>
          <a:ln/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381000" y="6600825"/>
            <a:ext cx="23336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南京医科大学第一附属医院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心律失常团队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11334750" y="65913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14 / 15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35" name="" descr="&lt;Slide style={{ width: 1280, height: 720, background: '#FFFFFF', paddingLeft: 90, paddingRight: 90, paddingTop: 60, paddingBottom: 60, justifyContent: 'center', fontFamily: '&quot;Microsoft YaHei&quot;,&quot;Source Han Sans SC&quot;,&quot;Noto Sans SC&quot;,sans-serif' }}&gt;&#10;  &lt;Box style={{ alignItems: 'center' }}&gt;&#10;    &lt;Text style={{ fontSize: 15, color: '#3D7BD9', letterSpacing: 4 }}&gt;CONCLUSION&lt;/Text&gt;&#10;    &lt;Text style={{ fontSize: 34, fontWeight: 'bold', color: '#0E3F8C', lineHeight: 1.5, textAlign: 'center', marginTop: 18 }}&gt;&#10;      小样本临床数据上，适配的方案是&lt;span style={{ color: '#1E4FA8' }}&gt;收缩判别与强正则方法&lt;/span&gt;，&lt;br /&gt;不是更深的网络。&#10;    &lt;/Text&gt;&#10;    &lt;Box style={{ width: 72, height: 5, background: '#1E4FA8', marginTop: 24 }} /&gt;&#10;  &lt;/Box&gt;&#10;  &lt;Box style={{ marginTop: 36, gap: 13 }}&gt;&#10;    &lt;Box style={{ flexDirection: 'row', alignItems: 'center', background: '#F0F5FC', borderRadius: 8, paddingLeft: 24, paddingRight: 24, paddingTop: 15, paddingBottom: 15 }}&gt;&#10;      &lt;Box style={{ width: 10, height: 10, borderRadius: 5, background: '#1E4FA8' }} /&gt;&#10;      &lt;Text style={{ fontSize: 18.5, color: '#1A2230', marginLeft: 18 }}&gt;&#10;        37 种方案系统评测：&lt;Text style={{ fontWeight: 'bold', color: '#1E4FA8' }}&gt;LDA_Shrinkage 0.809&lt;/Text&gt; 居首，5 个模型经 Nemenyi 检验显著优于已发表 LASSO 基线（0.746，第 19/37 位）&#10;      &lt;/Text&gt;&#10;    &lt;/Box&gt;&#10;    &lt;Box style={{ flexDirection: 'row', alignItems: 'center', background: '#F0F5FC', borderRadius: 8, paddingLeft: 24, paddingRight: 24, paddingTop: 15, paddingBottom: 15 }}&gt;&#10;      &lt;Box style={{ width: 10, height: 10, borderRadius: 5, background: '#D9534F' }} /&gt;&#10;      &lt;Text style={{ fontSize: 18.5, color: '#1A2230', marginLeft: 18 }}&gt;&#10;        深度学习六种变体&lt;span style={{ fontWeight: 'bold', color: '#D9534F' }}&gt;全部低于基线&lt;/span&gt;（族均 0.627），4 种经检验显著更差——回应编辑&quot;补 AI&quot;的同时给出诚实的负结果&#10;      &lt;/Text&gt;&#10;    &lt;/Box&gt;&#10;    &lt;Box style={{ flexDirection: 'row', alignItems: 'center', background: '#F0F5FC', borderRadius: 8, paddingLeft: 24, paddingRight: 24, paddingTop: 15, paddingBottom: 15 }}&gt;&#10;      &lt;Box style={{ width: 10, height: 10, borderRadius: 5, background: '#1E4FA8' }} /&gt;&#10;      &lt;Text style={{ fontSize: 18.5, color: '#1A2230', marginLeft: 18 }}&gt;&#10;        结论经 4 种重采样 + 5 种随机种子交叉确认；SHAP 前列特征（systolic_match、NS_VT、LVEF_Echo、LVESD）与临床叙事一致&#10;      &lt;/Text&gt;&#10;    &lt;/Box&gt;&#10;  &lt;/Box&gt;&#10;  &lt;Box style={{ marginTop: 32, height: 58, background: '#0E3F8C', borderRadius: 8, flexDirection: 'row', alignItems: 'center', paddingLeft: 24, paddingRight: 24, justifyContent: 'space-between' }}&gt;&#10;    &lt;Text style={{ fontSize: 17, fontWeight: 'bold', color: '#FFFFFF' }}&gt;下一步&lt;/Text&gt;&#10;    &lt;Text style={{ fontSize: 15.5, color: '#DCE6F5' }}&gt;① 以 LDA_Shrinkage 为核心撰写对比论文　② 前瞻性外部队列验证　③ 部署前对最优模型做概率再校准&lt;/Text&gt;&#10;  &lt;/Box&gt;&#10;  &lt;Box style={{ marginTop: 18, flexDirection: 'row', justifyContent: 'space-between' }}&gt;&#10;    &lt;Text style={{ fontSize: 13, color: '#8B97A8' }}&gt;完整结果：outputs/benchmark/report.md（含可复用 Methods 文本与全部数据表）&lt;/Text&gt;&#10;    &lt;Text style={{ fontSize: 14, fontWeight: 'bold', color: '#1E4FA8' }}&gt;15 / 15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5429250" y="676275"/>
            <a:ext cx="1343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3D7BD9"/>
                </a:solidFill>
                <a:latin typeface="Microsoft YaHei"/>
                <a:ea typeface="Microsoft YaHei"/>
              </a:rPr>
              <a:t>CONCLUSION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1885950" y="1019175"/>
            <a:ext cx="8420100" cy="1171575"/>
          </a:xfrm>
          <a:prstGeom prst="rect"/>
        </p:spPr>
        <p:txBody>
          <a:bodyPr wrap="none" lIns="0" tIns="0" rIns="0" bIns="0"/>
          <a:p>
            <a:pPr algn="ctr">
              <a:lnSpc>
                <a:spcPct val="15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小样本临床数据上，适配的方案是</a:t>
            </a:r>
            <a:r>
              <a:rPr lang="zh-CN" sz="2550" b="1">
                <a:solidFill>
                  <a:srgbClr val="1E4FA8"/>
                </a:solidFill>
                <a:latin typeface="Microsoft YaHei"/>
                <a:ea typeface="Microsoft YaHei"/>
              </a:rPr>
              <a:t>收缩判别与强正则方法</a:t>
            </a: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，</a:t>
            </a:r>
            <a:endParaRPr/>
          </a:p>
          <a:p>
            <a:pPr algn="ctr">
              <a:lnSpc>
                <a:spcPct val="150000"/>
              </a:lnSpc>
            </a:pPr>
            <a:r>
              <a:rPr lang="zh-CN" sz="2550" b="1">
                <a:solidFill>
                  <a:srgbClr val="0E3F8C"/>
                </a:solidFill>
                <a:latin typeface="Microsoft YaHei"/>
                <a:ea typeface="Microsoft YaHei"/>
              </a:rPr>
              <a:t>不是更深的网络。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5753100" y="2419350"/>
            <a:ext cx="685800" cy="47625"/>
          </a:xfrm>
          <a:prstGeom prst="rect">
            <a:avLst/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857250" y="2809875"/>
            <a:ext cx="10477500" cy="714375"/>
          </a:xfrm>
          <a:prstGeom prst="roundRect">
            <a:avLst>
              <a:gd name="adj" fmla="val 10667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41" name=""/>
          <p:cNvSpPr/>
          <p:nvPr/>
        </p:nvSpPr>
        <p:spPr>
          <a:xfrm rot="0" flipH="0" flipV="0">
            <a:off x="1085850" y="312420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1352550" y="2952750"/>
            <a:ext cx="97536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388">
                <a:solidFill>
                  <a:srgbClr val="1A2230"/>
                </a:solidFill>
                <a:latin typeface="Microsoft YaHei"/>
                <a:ea typeface="Microsoft YaHei"/>
              </a:rPr>
              <a:t xml:space="preserve">37 </a:t>
            </a:r>
            <a:r>
              <a:rPr lang="zh-CN" sz="1388">
                <a:solidFill>
                  <a:srgbClr val="1A2230"/>
                </a:solidFill>
                <a:latin typeface="Microsoft YaHei"/>
                <a:ea typeface="Microsoft YaHei"/>
              </a:rPr>
              <a:t>种方案系统评测：</a:t>
            </a:r>
            <a:r>
              <a:rPr lang="en-US" sz="1388">
                <a:solidFill>
                  <a:srgbClr val="1A2230"/>
                </a:solidFill>
                <a:latin typeface="Microsoft YaHei"/>
                <a:ea typeface="Microsoft YaHei"/>
              </a:rPr>
              <a:t>LDA_Shrinkage 0.809</a:t>
            </a:r>
            <a:r>
              <a:rPr lang="en-US" sz="1388">
                <a:solidFill>
                  <a:srgbClr val="1A2230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388">
                <a:solidFill>
                  <a:srgbClr val="1A2230"/>
                </a:solidFill>
                <a:latin typeface="Microsoft YaHei"/>
                <a:ea typeface="Microsoft YaHei"/>
              </a:rPr>
              <a:t>居首，</a:t>
            </a:r>
            <a:r>
              <a:rPr lang="en-US" sz="1388">
                <a:solidFill>
                  <a:srgbClr val="1A2230"/>
                </a:solidFill>
                <a:latin typeface="Microsoft YaHei"/>
                <a:ea typeface="Microsoft YaHei"/>
              </a:rPr>
              <a:t xml:space="preserve">5 </a:t>
            </a:r>
            <a:r>
              <a:rPr lang="zh-CN" sz="1388">
                <a:solidFill>
                  <a:srgbClr val="1A2230"/>
                </a:solidFill>
                <a:latin typeface="Microsoft YaHei"/>
                <a:ea typeface="Microsoft YaHei"/>
              </a:rPr>
              <a:t>个模型经</a:t>
            </a:r>
            <a:r>
              <a:rPr lang="en-US" sz="1388">
                <a:solidFill>
                  <a:srgbClr val="1A2230"/>
                </a:solidFill>
                <a:latin typeface="Microsoft YaHei"/>
                <a:ea typeface="Microsoft YaHei"/>
              </a:rPr>
              <a:t xml:space="preserve"> Nemenyi </a:t>
            </a:r>
            <a:r>
              <a:rPr lang="zh-CN" sz="1388">
                <a:solidFill>
                  <a:srgbClr val="1A2230"/>
                </a:solidFill>
                <a:latin typeface="Microsoft YaHei"/>
                <a:ea typeface="Microsoft YaHei"/>
              </a:rPr>
              <a:t>检验显著优于已发表</a:t>
            </a:r>
            <a:r>
              <a:rPr lang="en-US" sz="1388">
                <a:solidFill>
                  <a:srgbClr val="1A2230"/>
                </a:solidFill>
                <a:latin typeface="Microsoft YaHei"/>
                <a:ea typeface="Microsoft YaHei"/>
              </a:rPr>
              <a:t xml:space="preserve"> LASSO </a:t>
            </a:r>
            <a:r>
              <a:rPr lang="zh-CN" sz="1388">
                <a:solidFill>
                  <a:srgbClr val="1A2230"/>
                </a:solidFill>
                <a:latin typeface="Microsoft YaHei"/>
                <a:ea typeface="Microsoft YaHei"/>
              </a:rPr>
              <a:t>基线（</a:t>
            </a:r>
            <a:r>
              <a:rPr lang="en-US" sz="1388">
                <a:solidFill>
                  <a:srgbClr val="1A2230"/>
                </a:solidFill>
                <a:latin typeface="Microsoft YaHei"/>
                <a:ea typeface="Microsoft YaHei"/>
              </a:rPr>
              <a:t>0.746</a:t>
            </a:r>
            <a:r>
              <a:rPr lang="zh-CN" sz="1388">
                <a:solidFill>
                  <a:srgbClr val="1A2230"/>
                </a:solidFill>
                <a:latin typeface="Microsoft YaHei"/>
                <a:ea typeface="Microsoft YaHei"/>
              </a:rPr>
              <a:t>，第</a:t>
            </a:r>
            <a:r>
              <a:rPr lang="en-US" sz="1388">
                <a:solidFill>
                  <a:srgbClr val="1A2230"/>
                </a:solidFill>
                <a:latin typeface="Microsoft YaHei"/>
                <a:ea typeface="Microsoft YaHei"/>
              </a:rPr>
              <a:t xml:space="preserve"> 19/37 </a:t>
            </a:r>
            <a:r>
              <a:rPr lang="zh-CN" sz="1388">
                <a:solidFill>
                  <a:srgbClr val="1A2230"/>
                </a:solidFill>
                <a:latin typeface="Microsoft YaHei"/>
                <a:ea typeface="Microsoft YaHei"/>
              </a:rPr>
              <a:t>位）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857250" y="3648075"/>
            <a:ext cx="10477500" cy="504825"/>
          </a:xfrm>
          <a:prstGeom prst="roundRect">
            <a:avLst>
              <a:gd name="adj" fmla="val 15094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44" name=""/>
          <p:cNvSpPr/>
          <p:nvPr/>
        </p:nvSpPr>
        <p:spPr>
          <a:xfrm rot="0" flipH="0" flipV="0">
            <a:off x="1085850" y="3857625"/>
            <a:ext cx="95250" cy="95250"/>
          </a:xfrm>
          <a:prstGeom prst="roundRect">
            <a:avLst>
              <a:gd name="adj" fmla="val 50000"/>
            </a:avLst>
          </a:prstGeom>
          <a:solidFill>
            <a:srgbClr val="D9534F"/>
          </a:solidFill>
          <a:ln/>
        </p:spPr>
        <p:txBody>
          <a:bodyPr/>
          <a:p/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352550" y="3790950"/>
            <a:ext cx="90106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88">
                <a:solidFill>
                  <a:srgbClr val="1A2230"/>
                </a:solidFill>
                <a:latin typeface="Microsoft YaHei"/>
                <a:ea typeface="Microsoft YaHei"/>
              </a:rPr>
              <a:t>深度学习六种变体</a:t>
            </a:r>
            <a:r>
              <a:rPr lang="zh-CN" sz="1388" b="1">
                <a:solidFill>
                  <a:srgbClr val="D9534F"/>
                </a:solidFill>
                <a:latin typeface="Microsoft YaHei"/>
                <a:ea typeface="Microsoft YaHei"/>
              </a:rPr>
              <a:t>全部低于基线</a:t>
            </a:r>
            <a:r>
              <a:rPr lang="zh-CN" sz="1388">
                <a:solidFill>
                  <a:srgbClr val="1A2230"/>
                </a:solidFill>
                <a:latin typeface="Microsoft YaHei"/>
                <a:ea typeface="Microsoft YaHei"/>
              </a:rPr>
              <a:t>（族均</a:t>
            </a:r>
            <a:r>
              <a:rPr lang="en-US" sz="1388">
                <a:solidFill>
                  <a:srgbClr val="1A2230"/>
                </a:solidFill>
                <a:latin typeface="Microsoft YaHei"/>
                <a:ea typeface="Microsoft YaHei"/>
              </a:rPr>
              <a:t xml:space="preserve"> 0.627</a:t>
            </a:r>
            <a:r>
              <a:rPr lang="zh-CN" sz="1388">
                <a:solidFill>
                  <a:srgbClr val="1A2230"/>
                </a:solidFill>
                <a:latin typeface="Microsoft YaHei"/>
                <a:ea typeface="Microsoft YaHei"/>
              </a:rPr>
              <a:t>），</a:t>
            </a:r>
            <a:r>
              <a:rPr lang="en-US" sz="1388">
                <a:solidFill>
                  <a:srgbClr val="1A2230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1388">
                <a:solidFill>
                  <a:srgbClr val="1A2230"/>
                </a:solidFill>
                <a:latin typeface="Microsoft YaHei"/>
                <a:ea typeface="Microsoft YaHei"/>
              </a:rPr>
              <a:t>种经检验显著更差——回应编辑</a:t>
            </a:r>
            <a:r>
              <a:rPr lang="en-US" sz="1388">
                <a:solidFill>
                  <a:srgbClr val="1A2230"/>
                </a:solidFill>
                <a:latin typeface="Microsoft YaHei"/>
                <a:ea typeface="Microsoft YaHei"/>
              </a:rPr>
              <a:t>"</a:t>
            </a:r>
            <a:r>
              <a:rPr lang="zh-CN" sz="1388">
                <a:solidFill>
                  <a:srgbClr val="1A2230"/>
                </a:solidFill>
                <a:latin typeface="Microsoft YaHei"/>
                <a:ea typeface="Microsoft YaHei"/>
              </a:rPr>
              <a:t>补</a:t>
            </a:r>
            <a:r>
              <a:rPr lang="en-US" sz="1388">
                <a:solidFill>
                  <a:srgbClr val="1A2230"/>
                </a:solidFill>
                <a:latin typeface="Microsoft YaHei"/>
                <a:ea typeface="Microsoft YaHei"/>
              </a:rPr>
              <a:t xml:space="preserve"> AI"</a:t>
            </a:r>
            <a:r>
              <a:rPr lang="zh-CN" sz="1388">
                <a:solidFill>
                  <a:srgbClr val="1A2230"/>
                </a:solidFill>
                <a:latin typeface="Microsoft YaHei"/>
                <a:ea typeface="Microsoft YaHei"/>
              </a:rPr>
              <a:t>的同时给出诚实的负结果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857250" y="4276725"/>
            <a:ext cx="10477500" cy="714375"/>
          </a:xfrm>
          <a:prstGeom prst="roundRect">
            <a:avLst>
              <a:gd name="adj" fmla="val 10667"/>
            </a:avLst>
          </a:prstGeom>
          <a:solidFill>
            <a:srgbClr val="F0F5FC"/>
          </a:solidFill>
          <a:ln/>
        </p:spPr>
        <p:txBody>
          <a:bodyPr/>
          <a:p/>
        </p:txBody>
      </p:sp>
      <p:sp>
        <p:nvSpPr>
          <p:cNvPr id="147" name=""/>
          <p:cNvSpPr/>
          <p:nvPr/>
        </p:nvSpPr>
        <p:spPr>
          <a:xfrm rot="0" flipH="0" flipV="0">
            <a:off x="1085850" y="4591050"/>
            <a:ext cx="95250" cy="95250"/>
          </a:xfrm>
          <a:prstGeom prst="roundRect">
            <a:avLst>
              <a:gd name="adj" fmla="val 50000"/>
            </a:avLst>
          </a:prstGeom>
          <a:solidFill>
            <a:srgbClr val="1E4FA8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1352550" y="4419600"/>
            <a:ext cx="97536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388">
                <a:solidFill>
                  <a:srgbClr val="1A2230"/>
                </a:solidFill>
                <a:latin typeface="Microsoft YaHei"/>
                <a:ea typeface="Microsoft YaHei"/>
              </a:rPr>
              <a:t>结论经</a:t>
            </a:r>
            <a:r>
              <a:rPr lang="en-US" sz="1388">
                <a:solidFill>
                  <a:srgbClr val="1A2230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1388">
                <a:solidFill>
                  <a:srgbClr val="1A2230"/>
                </a:solidFill>
                <a:latin typeface="Microsoft YaHei"/>
                <a:ea typeface="Microsoft YaHei"/>
              </a:rPr>
              <a:t>种重采样</a:t>
            </a:r>
            <a:r>
              <a:rPr lang="en-US" sz="1388">
                <a:solidFill>
                  <a:srgbClr val="1A2230"/>
                </a:solidFill>
                <a:latin typeface="Microsoft YaHei"/>
                <a:ea typeface="Microsoft YaHei"/>
              </a:rPr>
              <a:t xml:space="preserve"> + 5 </a:t>
            </a:r>
            <a:r>
              <a:rPr lang="zh-CN" sz="1388">
                <a:solidFill>
                  <a:srgbClr val="1A2230"/>
                </a:solidFill>
                <a:latin typeface="Microsoft YaHei"/>
                <a:ea typeface="Microsoft YaHei"/>
              </a:rPr>
              <a:t>种随机种子交叉确认；</a:t>
            </a:r>
            <a:r>
              <a:rPr lang="en-US" sz="1388">
                <a:solidFill>
                  <a:srgbClr val="1A2230"/>
                </a:solidFill>
                <a:latin typeface="Microsoft YaHei"/>
                <a:ea typeface="Microsoft YaHei"/>
              </a:rPr>
              <a:t xml:space="preserve">SHAP </a:t>
            </a:r>
            <a:r>
              <a:rPr lang="zh-CN" sz="1388">
                <a:solidFill>
                  <a:srgbClr val="1A2230"/>
                </a:solidFill>
                <a:latin typeface="Microsoft YaHei"/>
                <a:ea typeface="Microsoft YaHei"/>
              </a:rPr>
              <a:t>前列特征（</a:t>
            </a:r>
            <a:r>
              <a:rPr lang="en-US" sz="1388">
                <a:solidFill>
                  <a:srgbClr val="1A2230"/>
                </a:solidFill>
                <a:latin typeface="Microsoft YaHei"/>
                <a:ea typeface="Microsoft YaHei"/>
              </a:rPr>
              <a:t>systolic_match</a:t>
            </a:r>
            <a:r>
              <a:rPr lang="zh-CN" sz="1388">
                <a:solidFill>
                  <a:srgbClr val="1A2230"/>
                </a:solidFill>
                <a:latin typeface="Microsoft YaHei"/>
                <a:ea typeface="Microsoft YaHei"/>
              </a:rPr>
              <a:t>、</a:t>
            </a:r>
            <a:r>
              <a:rPr lang="en-US" sz="1388">
                <a:solidFill>
                  <a:srgbClr val="1A2230"/>
                </a:solidFill>
                <a:latin typeface="Microsoft YaHei"/>
                <a:ea typeface="Microsoft YaHei"/>
              </a:rPr>
              <a:t>NS_VT</a:t>
            </a:r>
            <a:r>
              <a:rPr lang="zh-CN" sz="1388">
                <a:solidFill>
                  <a:srgbClr val="1A2230"/>
                </a:solidFill>
                <a:latin typeface="Microsoft YaHei"/>
                <a:ea typeface="Microsoft YaHei"/>
              </a:rPr>
              <a:t>、</a:t>
            </a:r>
            <a:r>
              <a:rPr lang="en-US" sz="1388">
                <a:solidFill>
                  <a:srgbClr val="1A2230"/>
                </a:solidFill>
                <a:latin typeface="Microsoft YaHei"/>
                <a:ea typeface="Microsoft YaHei"/>
              </a:rPr>
              <a:t>LVEF_Echo</a:t>
            </a:r>
            <a:r>
              <a:rPr lang="zh-CN" sz="1388">
                <a:solidFill>
                  <a:srgbClr val="1A2230"/>
                </a:solidFill>
                <a:latin typeface="Microsoft YaHei"/>
                <a:ea typeface="Microsoft YaHei"/>
              </a:rPr>
              <a:t>、</a:t>
            </a:r>
            <a:r>
              <a:rPr lang="en-US" sz="1388">
                <a:solidFill>
                  <a:srgbClr val="1A2230"/>
                </a:solidFill>
                <a:latin typeface="Microsoft YaHei"/>
                <a:ea typeface="Microsoft YaHei"/>
              </a:rPr>
              <a:t>LVESD</a:t>
            </a:r>
            <a:r>
              <a:rPr lang="zh-CN" sz="1388">
                <a:solidFill>
                  <a:srgbClr val="1A2230"/>
                </a:solidFill>
                <a:latin typeface="Microsoft YaHei"/>
                <a:ea typeface="Microsoft YaHei"/>
              </a:rPr>
              <a:t>）与临床叙事一致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857250" y="5295900"/>
            <a:ext cx="10477500" cy="552450"/>
          </a:xfrm>
          <a:prstGeom prst="roundRect">
            <a:avLst>
              <a:gd name="adj" fmla="val 13793"/>
            </a:avLst>
          </a:prstGeom>
          <a:solidFill>
            <a:srgbClr val="0E3F8C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085850" y="5476875"/>
            <a:ext cx="485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下一步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4210050" y="5486400"/>
            <a:ext cx="68961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DCE6F5"/>
                </a:solidFill>
                <a:latin typeface="Microsoft YaHei"/>
                <a:ea typeface="Microsoft YaHei"/>
              </a:rPr>
              <a:t xml:space="preserve">① </a:t>
            </a:r>
            <a:r>
              <a:rPr lang="zh-CN" sz="1163">
                <a:solidFill>
                  <a:srgbClr val="DCE6F5"/>
                </a:solidFill>
                <a:latin typeface="Microsoft YaHei"/>
                <a:ea typeface="Microsoft YaHei"/>
              </a:rPr>
              <a:t>以</a:t>
            </a:r>
            <a:r>
              <a:rPr lang="en-US" sz="1163">
                <a:solidFill>
                  <a:srgbClr val="DCE6F5"/>
                </a:solidFill>
                <a:latin typeface="Microsoft YaHei"/>
                <a:ea typeface="Microsoft YaHei"/>
              </a:rPr>
              <a:t xml:space="preserve"> LDA_Shrinkage </a:t>
            </a:r>
            <a:r>
              <a:rPr lang="zh-CN" sz="1163">
                <a:solidFill>
                  <a:srgbClr val="DCE6F5"/>
                </a:solidFill>
                <a:latin typeface="Microsoft YaHei"/>
                <a:ea typeface="Microsoft YaHei"/>
              </a:rPr>
              <a:t>为核心撰写对比论文　②</a:t>
            </a:r>
            <a:r>
              <a:rPr lang="en-US" sz="1163">
                <a:solidFill>
                  <a:srgbClr val="DCE6F5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63">
                <a:solidFill>
                  <a:srgbClr val="DCE6F5"/>
                </a:solidFill>
                <a:latin typeface="Microsoft YaHei"/>
                <a:ea typeface="Microsoft YaHei"/>
              </a:rPr>
              <a:t>前瞻性外部队列验证　③</a:t>
            </a:r>
            <a:r>
              <a:rPr lang="en-US" sz="1163">
                <a:solidFill>
                  <a:srgbClr val="DCE6F5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63">
                <a:solidFill>
                  <a:srgbClr val="DCE6F5"/>
                </a:solidFill>
                <a:latin typeface="Microsoft YaHei"/>
                <a:ea typeface="Microsoft YaHei"/>
              </a:rPr>
              <a:t>部署前对最优模型做概率再校准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857250" y="6019800"/>
            <a:ext cx="4781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完整结果：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>outputs/benchmark/report.md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（含可复用</a:t>
            </a:r>
            <a:r>
              <a:rPr lang="en-US" sz="975">
                <a:solidFill>
                  <a:srgbClr val="8B97A8"/>
                </a:solidFill>
                <a:latin typeface="Microsoft YaHei"/>
                <a:ea typeface="Microsoft YaHei"/>
              </a:rPr>
              <a:t xml:space="preserve"> Methods </a:t>
            </a:r>
            <a:r>
              <a:rPr lang="zh-CN" sz="975">
                <a:solidFill>
                  <a:srgbClr val="8B97A8"/>
                </a:solidFill>
                <a:latin typeface="Microsoft YaHei"/>
                <a:ea typeface="Microsoft YaHei"/>
              </a:rPr>
              <a:t>文本与全部数据表）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0858500" y="6019800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E4FA8"/>
                </a:solidFill>
                <a:latin typeface="Microsoft YaHei"/>
                <a:ea typeface="Microsoft YaHei"/>
              </a:rPr>
              <a:t>15 / 15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2026-10-14T02:24:48Z</dcterms:created>
  <dcterms:modified xsi:type="dcterms:W3CDTF">2026-10-14T02:24:48Z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{"AIGC":{"Label":"1","ContentProducer":"00119111010856365494821B355","ProduceID":"b2fa1e55760b4ce38d1c24bfe015f8a9","ReservedCode1":"","ContentPropagator":"00119111010856365494821B355","PropagateID":"b2fa1e55760b4ce38d1c24bfe015f8a9","ReservedCode2":""}}</vt:lpwstr>
  </property>
</Properties>
</file>